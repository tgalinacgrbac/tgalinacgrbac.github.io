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0" r:id="rId3"/>
    <p:sldId id="271" r:id="rId4"/>
    <p:sldId id="272" r:id="rId5"/>
    <p:sldId id="259" r:id="rId6"/>
    <p:sldId id="260" r:id="rId7"/>
    <p:sldId id="26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8366" autoAdjust="0"/>
  </p:normalViewPr>
  <p:slideViewPr>
    <p:cSldViewPr snapToGrid="0">
      <p:cViewPr varScale="1">
        <p:scale>
          <a:sx n="40" d="100"/>
          <a:sy n="40" d="100"/>
        </p:scale>
        <p:origin x="229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87706-2DD4-4045-BAC0-AEA2DA41B841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BA178-8154-4D26-B80C-53D2CF69DAC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210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morning's</a:t>
            </a:r>
            <a:r>
              <a:rPr lang="hr-HR" dirty="0"/>
              <a:t> </a:t>
            </a:r>
            <a:r>
              <a:rPr lang="hr-HR" dirty="0" err="1"/>
              <a:t>keynote</a:t>
            </a:r>
            <a:r>
              <a:rPr lang="hr-HR" dirty="0"/>
              <a:t> </a:t>
            </a:r>
            <a:r>
              <a:rPr lang="hr-HR" dirty="0" err="1"/>
              <a:t>raised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trust, </a:t>
            </a:r>
            <a:r>
              <a:rPr lang="hr-HR" dirty="0" err="1"/>
              <a:t>governance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changing</a:t>
            </a:r>
            <a:r>
              <a:rPr lang="hr-HR" dirty="0"/>
              <a:t> human </a:t>
            </a:r>
            <a:r>
              <a:rPr lang="hr-HR" dirty="0" err="1"/>
              <a:t>roles</a:t>
            </a:r>
            <a:r>
              <a:rPr lang="hr-HR" dirty="0"/>
              <a:t> as AI </a:t>
            </a:r>
            <a:r>
              <a:rPr lang="hr-HR" dirty="0" err="1"/>
              <a:t>systems</a:t>
            </a:r>
            <a:r>
              <a:rPr lang="hr-HR" dirty="0"/>
              <a:t> </a:t>
            </a:r>
            <a:r>
              <a:rPr lang="hr-HR" dirty="0" err="1"/>
              <a:t>become</a:t>
            </a:r>
            <a:r>
              <a:rPr lang="hr-HR" dirty="0"/>
              <a:t> </a:t>
            </a:r>
            <a:r>
              <a:rPr lang="hr-HR" dirty="0" err="1"/>
              <a:t>increasingly</a:t>
            </a:r>
            <a:r>
              <a:rPr lang="hr-HR" dirty="0"/>
              <a:t> </a:t>
            </a:r>
            <a:r>
              <a:rPr lang="hr-HR" dirty="0" err="1"/>
              <a:t>autonomous</a:t>
            </a:r>
            <a:r>
              <a:rPr lang="hr-HR" dirty="0"/>
              <a:t>. In </a:t>
            </a:r>
            <a:r>
              <a:rPr lang="hr-HR" dirty="0" err="1"/>
              <a:t>this</a:t>
            </a:r>
            <a:r>
              <a:rPr lang="hr-HR" dirty="0"/>
              <a:t> workshop,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to </a:t>
            </a:r>
            <a:r>
              <a:rPr lang="hr-HR" dirty="0" err="1"/>
              <a:t>broaden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discussion</a:t>
            </a:r>
            <a:r>
              <a:rPr lang="hr-HR" dirty="0"/>
              <a:t>: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happens</a:t>
            </a:r>
            <a:r>
              <a:rPr lang="hr-HR" dirty="0"/>
              <a:t> </a:t>
            </a:r>
            <a:r>
              <a:rPr lang="hr-HR" dirty="0" err="1"/>
              <a:t>when</a:t>
            </a:r>
            <a:r>
              <a:rPr lang="hr-HR" dirty="0"/>
              <a:t> LLM-</a:t>
            </a:r>
            <a:r>
              <a:rPr lang="hr-HR" dirty="0" err="1"/>
              <a:t>based</a:t>
            </a:r>
            <a:r>
              <a:rPr lang="hr-HR" dirty="0"/>
              <a:t> </a:t>
            </a:r>
            <a:r>
              <a:rPr lang="hr-HR" dirty="0" err="1"/>
              <a:t>technologies</a:t>
            </a:r>
            <a:r>
              <a:rPr lang="hr-HR" dirty="0"/>
              <a:t> </a:t>
            </a:r>
            <a:r>
              <a:rPr lang="hr-HR" dirty="0" err="1"/>
              <a:t>move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technical</a:t>
            </a:r>
            <a:r>
              <a:rPr lang="hr-HR" dirty="0"/>
              <a:t> </a:t>
            </a:r>
            <a:r>
              <a:rPr lang="hr-HR" dirty="0" err="1"/>
              <a:t>capability</a:t>
            </a:r>
            <a:r>
              <a:rPr lang="hr-HR" dirty="0"/>
              <a:t> </a:t>
            </a:r>
            <a:r>
              <a:rPr lang="hr-HR" dirty="0" err="1"/>
              <a:t>toward</a:t>
            </a:r>
            <a:r>
              <a:rPr lang="hr-HR" dirty="0"/>
              <a:t> </a:t>
            </a:r>
            <a:r>
              <a:rPr lang="hr-HR" dirty="0" err="1"/>
              <a:t>sustained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very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application</a:t>
            </a:r>
            <a:r>
              <a:rPr lang="hr-HR" dirty="0"/>
              <a:t> </a:t>
            </a:r>
            <a:r>
              <a:rPr lang="hr-HR" dirty="0" err="1"/>
              <a:t>domains</a:t>
            </a:r>
            <a:r>
              <a:rPr lang="hr-HR" dirty="0"/>
              <a:t>?</a:t>
            </a:r>
            <a:endParaRPr lang="en-US" dirty="0"/>
          </a:p>
          <a:p>
            <a:endParaRPr lang="en-US" dirty="0"/>
          </a:p>
          <a:p>
            <a:r>
              <a:rPr lang="hr-HR" dirty="0" err="1"/>
              <a:t>Good</a:t>
            </a:r>
            <a:r>
              <a:rPr lang="hr-HR" dirty="0"/>
              <a:t> </a:t>
            </a:r>
            <a:r>
              <a:rPr lang="hr-HR" dirty="0" err="1"/>
              <a:t>afternoon</a:t>
            </a:r>
            <a:r>
              <a:rPr lang="hr-HR" dirty="0"/>
              <a:t> </a:t>
            </a:r>
            <a:r>
              <a:rPr lang="hr-HR" dirty="0" err="1"/>
              <a:t>everyone</a:t>
            </a:r>
            <a:r>
              <a:rPr lang="hr-HR" dirty="0"/>
              <a:t>,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thank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for </a:t>
            </a:r>
            <a:r>
              <a:rPr lang="hr-HR" dirty="0" err="1"/>
              <a:t>joining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.</a:t>
            </a:r>
          </a:p>
          <a:p>
            <a:r>
              <a:rPr lang="hr-HR" dirty="0" err="1"/>
              <a:t>Welcome</a:t>
            </a:r>
            <a:r>
              <a:rPr lang="hr-HR" dirty="0"/>
              <a:t> to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second</a:t>
            </a:r>
            <a:r>
              <a:rPr lang="hr-HR" dirty="0"/>
              <a:t> Research </a:t>
            </a:r>
            <a:r>
              <a:rPr lang="hr-HR" dirty="0" err="1"/>
              <a:t>Alignment</a:t>
            </a:r>
            <a:r>
              <a:rPr lang="hr-HR" dirty="0"/>
              <a:t> Workshop on 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Large</a:t>
            </a:r>
            <a:r>
              <a:rPr lang="hr-HR" dirty="0"/>
              <a:t> </a:t>
            </a:r>
            <a:r>
              <a:rPr lang="hr-HR" dirty="0" err="1"/>
              <a:t>Language</a:t>
            </a:r>
            <a:r>
              <a:rPr lang="hr-HR" dirty="0"/>
              <a:t> </a:t>
            </a:r>
            <a:r>
              <a:rPr lang="hr-HR" dirty="0" err="1"/>
              <a:t>Models</a:t>
            </a:r>
            <a:r>
              <a:rPr lang="hr-HR" dirty="0"/>
              <a:t>.</a:t>
            </a:r>
          </a:p>
          <a:p>
            <a:r>
              <a:rPr lang="hr-HR" dirty="0" err="1"/>
              <a:t>This</a:t>
            </a:r>
            <a:r>
              <a:rPr lang="hr-HR" dirty="0"/>
              <a:t> workshop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part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a </a:t>
            </a:r>
            <a:r>
              <a:rPr lang="hr-HR" dirty="0" err="1"/>
              <a:t>research</a:t>
            </a:r>
            <a:r>
              <a:rPr lang="hr-HR" dirty="0"/>
              <a:t> </a:t>
            </a:r>
            <a:r>
              <a:rPr lang="hr-HR" dirty="0" err="1"/>
              <a:t>initiative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started</a:t>
            </a:r>
            <a:r>
              <a:rPr lang="hr-HR" dirty="0"/>
              <a:t> at MIPRO </a:t>
            </a:r>
            <a:r>
              <a:rPr lang="hr-HR" dirty="0" err="1"/>
              <a:t>earlier</a:t>
            </a:r>
            <a:r>
              <a:rPr lang="hr-HR" dirty="0"/>
              <a:t> </a:t>
            </a:r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year</a:t>
            </a:r>
            <a:r>
              <a:rPr lang="hr-HR" dirty="0"/>
              <a:t>.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broader</a:t>
            </a:r>
            <a:r>
              <a:rPr lang="hr-HR" dirty="0"/>
              <a:t> </a:t>
            </a:r>
            <a:r>
              <a:rPr lang="hr-HR" dirty="0" err="1"/>
              <a:t>motivation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to </a:t>
            </a:r>
            <a:r>
              <a:rPr lang="hr-HR" dirty="0" err="1"/>
              <a:t>understand</a:t>
            </a:r>
            <a:r>
              <a:rPr lang="hr-HR" dirty="0"/>
              <a:t> LLM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only</a:t>
            </a:r>
            <a:r>
              <a:rPr lang="hr-HR" dirty="0"/>
              <a:t> as a </a:t>
            </a:r>
            <a:r>
              <a:rPr lang="hr-HR" dirty="0" err="1"/>
              <a:t>technical</a:t>
            </a:r>
            <a:r>
              <a:rPr lang="hr-HR" dirty="0"/>
              <a:t> problem, but as a </a:t>
            </a:r>
            <a:r>
              <a:rPr lang="hr-HR" dirty="0" err="1"/>
              <a:t>socio-technical</a:t>
            </a:r>
            <a:r>
              <a:rPr lang="hr-HR" dirty="0"/>
              <a:t> </a:t>
            </a:r>
            <a:r>
              <a:rPr lang="hr-HR" dirty="0" err="1"/>
              <a:t>process</a:t>
            </a:r>
            <a:r>
              <a:rPr lang="hr-HR" dirty="0"/>
              <a:t> </a:t>
            </a:r>
            <a:r>
              <a:rPr lang="hr-HR" dirty="0" err="1"/>
              <a:t>involving</a:t>
            </a:r>
            <a:r>
              <a:rPr lang="hr-HR" dirty="0"/>
              <a:t> </a:t>
            </a:r>
            <a:r>
              <a:rPr lang="hr-HR" dirty="0" err="1"/>
              <a:t>people</a:t>
            </a:r>
            <a:r>
              <a:rPr lang="hr-HR" dirty="0"/>
              <a:t>, </a:t>
            </a:r>
            <a:r>
              <a:rPr lang="hr-HR" dirty="0" err="1"/>
              <a:t>organizations</a:t>
            </a:r>
            <a:r>
              <a:rPr lang="hr-HR" dirty="0"/>
              <a:t>, </a:t>
            </a:r>
            <a:r>
              <a:rPr lang="hr-HR" dirty="0" err="1"/>
              <a:t>existing</a:t>
            </a:r>
            <a:r>
              <a:rPr lang="hr-HR" dirty="0"/>
              <a:t> </a:t>
            </a:r>
            <a:r>
              <a:rPr lang="hr-HR" dirty="0" err="1"/>
              <a:t>practices</a:t>
            </a:r>
            <a:r>
              <a:rPr lang="hr-HR" dirty="0"/>
              <a:t>, </a:t>
            </a:r>
            <a:r>
              <a:rPr lang="hr-HR" dirty="0" err="1"/>
              <a:t>responsibilities</a:t>
            </a:r>
            <a:r>
              <a:rPr lang="hr-HR" dirty="0"/>
              <a:t>,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application</a:t>
            </a:r>
            <a:r>
              <a:rPr lang="hr-HR" dirty="0"/>
              <a:t> </a:t>
            </a:r>
            <a:r>
              <a:rPr lang="hr-HR" dirty="0" err="1"/>
              <a:t>contexts</a:t>
            </a:r>
            <a:r>
              <a:rPr lang="hr-HR" dirty="0"/>
              <a:t>.</a:t>
            </a:r>
          </a:p>
          <a:p>
            <a:r>
              <a:rPr lang="hr-HR" dirty="0" err="1"/>
              <a:t>Today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case</a:t>
            </a:r>
            <a:r>
              <a:rPr lang="hr-HR" dirty="0"/>
              <a:t> </a:t>
            </a:r>
            <a:r>
              <a:rPr lang="hr-HR" dirty="0" err="1"/>
              <a:t>studies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quite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domains</a:t>
            </a:r>
            <a:r>
              <a:rPr lang="hr-HR" dirty="0"/>
              <a:t>,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gives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a </a:t>
            </a:r>
            <a:r>
              <a:rPr lang="hr-HR" dirty="0" err="1"/>
              <a:t>particularly</a:t>
            </a:r>
            <a:r>
              <a:rPr lang="hr-HR" dirty="0"/>
              <a:t> </a:t>
            </a:r>
            <a:r>
              <a:rPr lang="hr-HR" dirty="0" err="1"/>
              <a:t>good</a:t>
            </a:r>
            <a:r>
              <a:rPr lang="hr-HR" dirty="0"/>
              <a:t> </a:t>
            </a:r>
            <a:r>
              <a:rPr lang="hr-HR" dirty="0" err="1"/>
              <a:t>opportunity</a:t>
            </a:r>
            <a:r>
              <a:rPr lang="hr-HR" dirty="0"/>
              <a:t> to </a:t>
            </a:r>
            <a:r>
              <a:rPr lang="hr-HR" dirty="0" err="1"/>
              <a:t>move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discussing</a:t>
            </a:r>
            <a:r>
              <a:rPr lang="hr-HR" dirty="0"/>
              <a:t> </a:t>
            </a:r>
            <a:r>
              <a:rPr lang="hr-HR" dirty="0" err="1"/>
              <a:t>individual</a:t>
            </a:r>
            <a:r>
              <a:rPr lang="hr-HR" dirty="0"/>
              <a:t> </a:t>
            </a:r>
            <a:r>
              <a:rPr lang="hr-HR" dirty="0" err="1"/>
              <a:t>applications</a:t>
            </a:r>
            <a:r>
              <a:rPr lang="hr-HR" dirty="0"/>
              <a:t> </a:t>
            </a:r>
            <a:r>
              <a:rPr lang="hr-HR" dirty="0" err="1"/>
              <a:t>towards</a:t>
            </a:r>
            <a:r>
              <a:rPr lang="hr-HR" dirty="0"/>
              <a:t> </a:t>
            </a:r>
            <a:r>
              <a:rPr lang="hr-HR" dirty="0" err="1"/>
              <a:t>comparing</a:t>
            </a:r>
            <a:r>
              <a:rPr lang="hr-HR" dirty="0"/>
              <a:t> </a:t>
            </a:r>
            <a:r>
              <a:rPr lang="hr-HR" dirty="0" err="1"/>
              <a:t>experiences</a:t>
            </a:r>
            <a:r>
              <a:rPr lang="hr-HR" dirty="0"/>
              <a:t> </a:t>
            </a:r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domains</a:t>
            </a:r>
            <a:r>
              <a:rPr lang="hr-HR" dirty="0"/>
              <a:t>.</a:t>
            </a:r>
          </a:p>
          <a:p>
            <a:r>
              <a:rPr lang="hr-HR" dirty="0"/>
              <a:t>Most </a:t>
            </a:r>
            <a:r>
              <a:rPr lang="hr-HR" dirty="0" err="1"/>
              <a:t>importantly</a:t>
            </a:r>
            <a:r>
              <a:rPr lang="hr-HR" dirty="0"/>
              <a:t>,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will</a:t>
            </a:r>
            <a:r>
              <a:rPr lang="hr-HR" dirty="0"/>
              <a:t> </a:t>
            </a:r>
            <a:r>
              <a:rPr lang="hr-HR" dirty="0" err="1"/>
              <a:t>present</a:t>
            </a:r>
            <a:r>
              <a:rPr lang="hr-HR" dirty="0"/>
              <a:t> </a:t>
            </a:r>
            <a:r>
              <a:rPr lang="hr-HR" dirty="0" err="1"/>
              <a:t>today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something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consider</a:t>
            </a:r>
            <a:r>
              <a:rPr lang="hr-HR" dirty="0"/>
              <a:t> </a:t>
            </a:r>
            <a:r>
              <a:rPr lang="hr-HR" dirty="0" err="1"/>
              <a:t>finished</a:t>
            </a:r>
            <a:r>
              <a:rPr lang="hr-HR" dirty="0"/>
              <a:t>.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to </a:t>
            </a:r>
            <a:r>
              <a:rPr lang="hr-HR" dirty="0" err="1"/>
              <a:t>help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</a:t>
            </a:r>
            <a:r>
              <a:rPr lang="hr-HR" dirty="0" err="1"/>
              <a:t>challenge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</a:t>
            </a:r>
            <a:r>
              <a:rPr lang="hr-HR" dirty="0" err="1"/>
              <a:t>ntroduction</a:t>
            </a:r>
            <a:r>
              <a:rPr lang="hr-HR" dirty="0"/>
              <a:t> &amp; Research Framework1–710 min</a:t>
            </a:r>
          </a:p>
          <a:p>
            <a:r>
              <a:rPr lang="hr-HR" dirty="0" err="1"/>
              <a:t>Case</a:t>
            </a:r>
            <a:r>
              <a:rPr lang="hr-HR" dirty="0"/>
              <a:t> Studies8</a:t>
            </a:r>
            <a:r>
              <a:rPr lang="en-US" dirty="0"/>
              <a:t> - </a:t>
            </a:r>
            <a:r>
              <a:rPr lang="hr-HR" dirty="0"/>
              <a:t>35 min</a:t>
            </a:r>
          </a:p>
          <a:p>
            <a:r>
              <a:rPr lang="hr-HR" dirty="0" err="1"/>
              <a:t>Structured</a:t>
            </a:r>
            <a:r>
              <a:rPr lang="hr-HR" dirty="0"/>
              <a:t> Reflection9–1010 min</a:t>
            </a:r>
          </a:p>
          <a:p>
            <a:r>
              <a:rPr lang="hr-HR" dirty="0" err="1"/>
              <a:t>Moderated</a:t>
            </a:r>
            <a:r>
              <a:rPr lang="hr-HR" dirty="0"/>
              <a:t> Discussion11–13</a:t>
            </a:r>
            <a:r>
              <a:rPr lang="en-US" dirty="0"/>
              <a:t> -</a:t>
            </a:r>
            <a:r>
              <a:rPr lang="hr-HR" dirty="0"/>
              <a:t>20 min</a:t>
            </a:r>
          </a:p>
          <a:p>
            <a:r>
              <a:rPr lang="hr-HR" dirty="0"/>
              <a:t>Framework Refinement14–15</a:t>
            </a:r>
            <a:r>
              <a:rPr lang="en-US" dirty="0"/>
              <a:t> - </a:t>
            </a:r>
            <a:r>
              <a:rPr lang="hr-HR" dirty="0"/>
              <a:t>10 min</a:t>
            </a:r>
          </a:p>
          <a:p>
            <a:r>
              <a:rPr lang="hr-HR" dirty="0"/>
              <a:t>Future Research / Closing16</a:t>
            </a:r>
            <a:r>
              <a:rPr lang="en-US" dirty="0"/>
              <a:t> - </a:t>
            </a:r>
            <a:r>
              <a:rPr lang="hr-HR" dirty="0"/>
              <a:t>5 min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60313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We</a:t>
            </a:r>
            <a:r>
              <a:rPr lang="hr-HR" dirty="0"/>
              <a:t> are </a:t>
            </a:r>
            <a:r>
              <a:rPr lang="hr-HR" dirty="0" err="1"/>
              <a:t>seeing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enormous</a:t>
            </a:r>
            <a:r>
              <a:rPr lang="hr-HR" dirty="0"/>
              <a:t> </a:t>
            </a:r>
            <a:r>
              <a:rPr lang="hr-HR" dirty="0" err="1"/>
              <a:t>amount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research</a:t>
            </a:r>
            <a:r>
              <a:rPr lang="hr-HR" dirty="0"/>
              <a:t> </a:t>
            </a:r>
            <a:r>
              <a:rPr lang="hr-HR" dirty="0" err="1"/>
              <a:t>demonstrating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LLMs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technically</a:t>
            </a:r>
            <a:r>
              <a:rPr lang="hr-HR" dirty="0"/>
              <a:t> do.</a:t>
            </a:r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measure</a:t>
            </a:r>
            <a:r>
              <a:rPr lang="hr-HR" dirty="0"/>
              <a:t> </a:t>
            </a:r>
            <a:r>
              <a:rPr lang="hr-HR" dirty="0" err="1"/>
              <a:t>accuracy</a:t>
            </a:r>
            <a:r>
              <a:rPr lang="hr-HR" dirty="0"/>
              <a:t>, </a:t>
            </a:r>
            <a:r>
              <a:rPr lang="hr-HR" dirty="0" err="1"/>
              <a:t>performance</a:t>
            </a:r>
            <a:r>
              <a:rPr lang="hr-HR" dirty="0"/>
              <a:t>, </a:t>
            </a:r>
            <a:r>
              <a:rPr lang="hr-HR" dirty="0" err="1"/>
              <a:t>latency</a:t>
            </a:r>
            <a:r>
              <a:rPr lang="hr-HR" dirty="0"/>
              <a:t>, </a:t>
            </a:r>
            <a:r>
              <a:rPr lang="hr-HR" dirty="0" err="1"/>
              <a:t>resource</a:t>
            </a:r>
            <a:r>
              <a:rPr lang="hr-HR" dirty="0"/>
              <a:t> </a:t>
            </a:r>
            <a:r>
              <a:rPr lang="hr-HR" dirty="0" err="1"/>
              <a:t>consumption</a:t>
            </a:r>
            <a:r>
              <a:rPr lang="hr-HR" dirty="0"/>
              <a:t>, </a:t>
            </a:r>
            <a:r>
              <a:rPr lang="hr-HR" dirty="0" err="1"/>
              <a:t>task</a:t>
            </a:r>
            <a:r>
              <a:rPr lang="hr-HR" dirty="0"/>
              <a:t> </a:t>
            </a:r>
            <a:r>
              <a:rPr lang="hr-HR" dirty="0" err="1"/>
              <a:t>completion</a:t>
            </a:r>
            <a:r>
              <a:rPr lang="hr-HR" dirty="0"/>
              <a:t>,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many</a:t>
            </a:r>
            <a:r>
              <a:rPr lang="hr-HR" dirty="0"/>
              <a:t> </a:t>
            </a:r>
            <a:r>
              <a:rPr lang="hr-HR" dirty="0" err="1"/>
              <a:t>other</a:t>
            </a:r>
            <a:r>
              <a:rPr lang="hr-HR" dirty="0"/>
              <a:t> </a:t>
            </a:r>
            <a:r>
              <a:rPr lang="hr-HR" dirty="0" err="1"/>
              <a:t>technical</a:t>
            </a:r>
            <a:r>
              <a:rPr lang="hr-HR" dirty="0"/>
              <a:t> </a:t>
            </a:r>
            <a:r>
              <a:rPr lang="hr-HR" dirty="0" err="1"/>
              <a:t>properties</a:t>
            </a:r>
            <a:r>
              <a:rPr lang="hr-HR" dirty="0"/>
              <a:t>.</a:t>
            </a:r>
          </a:p>
          <a:p>
            <a:r>
              <a:rPr lang="hr-HR" dirty="0"/>
              <a:t>But </a:t>
            </a:r>
            <a:r>
              <a:rPr lang="hr-HR" dirty="0" err="1"/>
              <a:t>successful</a:t>
            </a:r>
            <a:r>
              <a:rPr lang="hr-HR" dirty="0"/>
              <a:t> </a:t>
            </a:r>
            <a:r>
              <a:rPr lang="hr-HR" dirty="0" err="1"/>
              <a:t>technical</a:t>
            </a:r>
            <a:r>
              <a:rPr lang="hr-HR" dirty="0"/>
              <a:t> </a:t>
            </a:r>
            <a:r>
              <a:rPr lang="hr-HR" dirty="0" err="1"/>
              <a:t>performance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automatically</a:t>
            </a:r>
            <a:r>
              <a:rPr lang="hr-HR" dirty="0"/>
              <a:t> </a:t>
            </a:r>
            <a:r>
              <a:rPr lang="hr-HR" dirty="0" err="1"/>
              <a:t>imply</a:t>
            </a:r>
            <a:r>
              <a:rPr lang="hr-HR" dirty="0"/>
              <a:t> </a:t>
            </a:r>
            <a:r>
              <a:rPr lang="hr-HR" dirty="0" err="1"/>
              <a:t>successful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.</a:t>
            </a:r>
          </a:p>
          <a:p>
            <a:r>
              <a:rPr lang="hr-HR" dirty="0" err="1"/>
              <a:t>Once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LLM </a:t>
            </a:r>
            <a:r>
              <a:rPr lang="hr-HR" dirty="0" err="1"/>
              <a:t>enters</a:t>
            </a:r>
            <a:r>
              <a:rPr lang="hr-HR" dirty="0"/>
              <a:t> a </a:t>
            </a:r>
            <a:r>
              <a:rPr lang="hr-HR" dirty="0" err="1"/>
              <a:t>real</a:t>
            </a:r>
            <a:r>
              <a:rPr lang="hr-HR" dirty="0"/>
              <a:t> </a:t>
            </a:r>
            <a:r>
              <a:rPr lang="hr-HR" dirty="0" err="1"/>
              <a:t>environment</a:t>
            </a:r>
            <a:r>
              <a:rPr lang="hr-HR" dirty="0"/>
              <a:t>,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 </a:t>
            </a:r>
            <a:r>
              <a:rPr lang="hr-HR" dirty="0" err="1"/>
              <a:t>become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. How do </a:t>
            </a:r>
            <a:r>
              <a:rPr lang="hr-HR" dirty="0" err="1"/>
              <a:t>people</a:t>
            </a:r>
            <a:r>
              <a:rPr lang="hr-HR" dirty="0"/>
              <a:t> use </a:t>
            </a:r>
            <a:r>
              <a:rPr lang="hr-HR" dirty="0" err="1"/>
              <a:t>it</a:t>
            </a:r>
            <a:r>
              <a:rPr lang="hr-HR" dirty="0"/>
              <a:t>? Do </a:t>
            </a:r>
            <a:r>
              <a:rPr lang="hr-HR" dirty="0" err="1"/>
              <a:t>they</a:t>
            </a:r>
            <a:r>
              <a:rPr lang="hr-HR" dirty="0"/>
              <a:t> trust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appropriately</a:t>
            </a:r>
            <a:r>
              <a:rPr lang="hr-HR" dirty="0"/>
              <a:t>? Who </a:t>
            </a:r>
            <a:r>
              <a:rPr lang="hr-HR" dirty="0" err="1"/>
              <a:t>verifies</a:t>
            </a:r>
            <a:r>
              <a:rPr lang="hr-HR" dirty="0"/>
              <a:t> </a:t>
            </a:r>
            <a:r>
              <a:rPr lang="hr-HR" dirty="0" err="1"/>
              <a:t>its</a:t>
            </a:r>
            <a:r>
              <a:rPr lang="hr-HR" dirty="0"/>
              <a:t> output?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fit </a:t>
            </a:r>
            <a:r>
              <a:rPr lang="hr-HR" dirty="0" err="1"/>
              <a:t>existing</a:t>
            </a:r>
            <a:r>
              <a:rPr lang="hr-HR" dirty="0"/>
              <a:t> </a:t>
            </a:r>
            <a:r>
              <a:rPr lang="hr-HR" dirty="0" err="1"/>
              <a:t>workflows</a:t>
            </a:r>
            <a:r>
              <a:rPr lang="hr-HR" dirty="0"/>
              <a:t>?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change</a:t>
            </a:r>
            <a:r>
              <a:rPr lang="hr-HR" dirty="0"/>
              <a:t> </a:t>
            </a:r>
            <a:r>
              <a:rPr lang="hr-HR" dirty="0" err="1"/>
              <a:t>responsibilities</a:t>
            </a:r>
            <a:r>
              <a:rPr lang="hr-HR" dirty="0"/>
              <a:t>?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organizational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regulatory</a:t>
            </a:r>
            <a:r>
              <a:rPr lang="hr-HR" dirty="0"/>
              <a:t> </a:t>
            </a:r>
            <a:r>
              <a:rPr lang="hr-HR" dirty="0" err="1"/>
              <a:t>constraints</a:t>
            </a:r>
            <a:r>
              <a:rPr lang="hr-HR" dirty="0"/>
              <a:t> </a:t>
            </a:r>
            <a:r>
              <a:rPr lang="hr-HR" dirty="0" err="1"/>
              <a:t>appear</a:t>
            </a:r>
            <a:r>
              <a:rPr lang="hr-HR" dirty="0"/>
              <a:t>?</a:t>
            </a:r>
          </a:p>
          <a:p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morning's</a:t>
            </a:r>
            <a:r>
              <a:rPr lang="hr-HR" dirty="0"/>
              <a:t> SOFTCOM </a:t>
            </a:r>
            <a:r>
              <a:rPr lang="hr-HR" dirty="0" err="1"/>
              <a:t>keynote</a:t>
            </a:r>
            <a:r>
              <a:rPr lang="hr-HR" dirty="0"/>
              <a:t> </a:t>
            </a:r>
            <a:r>
              <a:rPr lang="hr-HR" dirty="0" err="1"/>
              <a:t>raised</a:t>
            </a:r>
            <a:r>
              <a:rPr lang="hr-HR" dirty="0"/>
              <a:t> </a:t>
            </a:r>
            <a:r>
              <a:rPr lang="hr-HR" dirty="0" err="1"/>
              <a:t>related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context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autonomous</a:t>
            </a:r>
            <a:r>
              <a:rPr lang="hr-HR" dirty="0"/>
              <a:t> AI </a:t>
            </a:r>
            <a:r>
              <a:rPr lang="hr-HR" dirty="0" err="1"/>
              <a:t>agents</a:t>
            </a:r>
            <a:r>
              <a:rPr lang="hr-HR" dirty="0"/>
              <a:t> — </a:t>
            </a:r>
            <a:r>
              <a:rPr lang="hr-HR" dirty="0" err="1"/>
              <a:t>particularly</a:t>
            </a:r>
            <a:r>
              <a:rPr lang="hr-HR" dirty="0"/>
              <a:t> trust, </a:t>
            </a:r>
            <a:r>
              <a:rPr lang="hr-HR" dirty="0" err="1"/>
              <a:t>governance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changing</a:t>
            </a:r>
            <a:r>
              <a:rPr lang="hr-HR" dirty="0"/>
              <a:t> human </a:t>
            </a:r>
            <a:r>
              <a:rPr lang="hr-HR" dirty="0" err="1"/>
              <a:t>roles</a:t>
            </a:r>
            <a:r>
              <a:rPr lang="hr-HR" dirty="0"/>
              <a:t>.</a:t>
            </a:r>
          </a:p>
          <a:p>
            <a:r>
              <a:rPr lang="hr-HR" dirty="0"/>
              <a:t>In </a:t>
            </a:r>
            <a:r>
              <a:rPr lang="hr-HR" dirty="0" err="1"/>
              <a:t>this</a:t>
            </a:r>
            <a:r>
              <a:rPr lang="hr-HR" dirty="0"/>
              <a:t> workshop,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to </a:t>
            </a:r>
            <a:r>
              <a:rPr lang="hr-HR" dirty="0" err="1"/>
              <a:t>broaden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discussion</a:t>
            </a:r>
            <a:r>
              <a:rPr lang="hr-HR" dirty="0"/>
              <a:t> </a:t>
            </a:r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LLM </a:t>
            </a:r>
            <a:r>
              <a:rPr lang="hr-HR" dirty="0" err="1"/>
              <a:t>application</a:t>
            </a:r>
            <a:r>
              <a:rPr lang="hr-HR" dirty="0"/>
              <a:t> </a:t>
            </a:r>
            <a:r>
              <a:rPr lang="hr-HR" dirty="0" err="1"/>
              <a:t>domains</a:t>
            </a:r>
            <a:r>
              <a:rPr lang="hr-HR" dirty="0"/>
              <a:t>.</a:t>
            </a:r>
          </a:p>
          <a:p>
            <a:r>
              <a:rPr lang="hr-HR" dirty="0" err="1"/>
              <a:t>So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central</a:t>
            </a:r>
            <a:r>
              <a:rPr lang="hr-HR" dirty="0"/>
              <a:t> </a:t>
            </a:r>
            <a:r>
              <a:rPr lang="hr-HR" dirty="0" err="1"/>
              <a:t>question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simply</a:t>
            </a:r>
            <a:r>
              <a:rPr lang="hr-HR" dirty="0"/>
              <a:t>: </a:t>
            </a:r>
            <a:r>
              <a:rPr lang="hr-HR" b="1" dirty="0" err="1"/>
              <a:t>Can</a:t>
            </a:r>
            <a:r>
              <a:rPr lang="hr-HR" b="1" dirty="0"/>
              <a:t> </a:t>
            </a:r>
            <a:r>
              <a:rPr lang="hr-HR" b="1" dirty="0" err="1"/>
              <a:t>the</a:t>
            </a:r>
            <a:r>
              <a:rPr lang="hr-HR" b="1" dirty="0"/>
              <a:t> LLM do </a:t>
            </a:r>
            <a:r>
              <a:rPr lang="hr-HR" b="1" dirty="0" err="1"/>
              <a:t>the</a:t>
            </a:r>
            <a:r>
              <a:rPr lang="hr-HR" b="1" dirty="0"/>
              <a:t> </a:t>
            </a:r>
            <a:r>
              <a:rPr lang="hr-HR" b="1" dirty="0" err="1"/>
              <a:t>task</a:t>
            </a:r>
            <a:r>
              <a:rPr lang="hr-HR" b="1" dirty="0"/>
              <a:t>?</a:t>
            </a:r>
            <a:endParaRPr lang="hr-HR" dirty="0"/>
          </a:p>
          <a:p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: </a:t>
            </a: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makes</a:t>
            </a:r>
            <a:r>
              <a:rPr lang="hr-HR" b="1" dirty="0"/>
              <a:t> </a:t>
            </a:r>
            <a:r>
              <a:rPr lang="hr-HR" b="1" dirty="0" err="1"/>
              <a:t>an</a:t>
            </a:r>
            <a:r>
              <a:rPr lang="hr-HR" b="1" dirty="0"/>
              <a:t> LLM </a:t>
            </a:r>
            <a:r>
              <a:rPr lang="hr-HR" b="1" dirty="0" err="1"/>
              <a:t>application</a:t>
            </a:r>
            <a:r>
              <a:rPr lang="hr-HR" b="1" dirty="0"/>
              <a:t> </a:t>
            </a:r>
            <a:r>
              <a:rPr lang="hr-HR" b="1" dirty="0" err="1"/>
              <a:t>sustainably</a:t>
            </a:r>
            <a:r>
              <a:rPr lang="hr-HR" b="1" dirty="0"/>
              <a:t> </a:t>
            </a:r>
            <a:r>
              <a:rPr lang="hr-HR" b="1" dirty="0" err="1"/>
              <a:t>adoptable</a:t>
            </a:r>
            <a:r>
              <a:rPr lang="hr-HR" b="1" dirty="0"/>
              <a:t> </a:t>
            </a:r>
            <a:r>
              <a:rPr lang="hr-HR" b="1" dirty="0" err="1"/>
              <a:t>in</a:t>
            </a:r>
            <a:r>
              <a:rPr lang="hr-HR" b="1" dirty="0"/>
              <a:t> a </a:t>
            </a:r>
            <a:r>
              <a:rPr lang="hr-HR" b="1" dirty="0" err="1"/>
              <a:t>real</a:t>
            </a:r>
            <a:r>
              <a:rPr lang="hr-HR" b="1" dirty="0"/>
              <a:t> </a:t>
            </a:r>
            <a:r>
              <a:rPr lang="hr-HR" b="1" dirty="0" err="1"/>
              <a:t>socio-technical</a:t>
            </a:r>
            <a:r>
              <a:rPr lang="hr-HR" b="1" dirty="0"/>
              <a:t> </a:t>
            </a:r>
            <a:r>
              <a:rPr lang="hr-HR" b="1" dirty="0" err="1"/>
              <a:t>environment</a:t>
            </a:r>
            <a:r>
              <a:rPr lang="hr-HR" b="1" dirty="0"/>
              <a:t>?</a:t>
            </a:r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01951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: </a:t>
            </a:r>
            <a:r>
              <a:rPr lang="hr-HR" dirty="0" err="1"/>
              <a:t>today's</a:t>
            </a:r>
            <a:r>
              <a:rPr lang="hr-HR" dirty="0"/>
              <a:t> workshop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a </a:t>
            </a:r>
            <a:r>
              <a:rPr lang="hr-HR" dirty="0" err="1"/>
              <a:t>repetition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MIPRO workshop.</a:t>
            </a:r>
          </a:p>
          <a:p>
            <a:r>
              <a:rPr lang="hr-HR" dirty="0"/>
              <a:t>At MIPRO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proposed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initial</a:t>
            </a:r>
            <a:r>
              <a:rPr lang="hr-HR" dirty="0"/>
              <a:t> </a:t>
            </a:r>
            <a:r>
              <a:rPr lang="hr-HR" dirty="0" err="1"/>
              <a:t>analytical</a:t>
            </a:r>
            <a:r>
              <a:rPr lang="hr-HR" dirty="0"/>
              <a:t> </a:t>
            </a:r>
            <a:r>
              <a:rPr lang="hr-HR" dirty="0" err="1"/>
              <a:t>structure</a:t>
            </a:r>
            <a:r>
              <a:rPr lang="hr-HR" dirty="0"/>
              <a:t> </a:t>
            </a:r>
            <a:r>
              <a:rPr lang="hr-HR" dirty="0" err="1"/>
              <a:t>consisting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nine</a:t>
            </a:r>
            <a:r>
              <a:rPr lang="hr-HR" dirty="0"/>
              <a:t> </a:t>
            </a:r>
            <a:r>
              <a:rPr lang="hr-HR" dirty="0" err="1"/>
              <a:t>dimensions</a:t>
            </a:r>
            <a:r>
              <a:rPr lang="hr-HR" dirty="0"/>
              <a:t>.</a:t>
            </a:r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then</a:t>
            </a:r>
            <a:r>
              <a:rPr lang="hr-HR" dirty="0"/>
              <a:t> </a:t>
            </a:r>
            <a:r>
              <a:rPr lang="hr-HR" dirty="0" err="1"/>
              <a:t>organized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first</a:t>
            </a:r>
            <a:r>
              <a:rPr lang="hr-HR" dirty="0"/>
              <a:t> workshop as a pilot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collected</a:t>
            </a:r>
            <a:r>
              <a:rPr lang="hr-HR" dirty="0"/>
              <a:t> </a:t>
            </a:r>
            <a:r>
              <a:rPr lang="hr-HR" dirty="0" err="1"/>
              <a:t>eleven</a:t>
            </a:r>
            <a:r>
              <a:rPr lang="hr-HR" dirty="0"/>
              <a:t> </a:t>
            </a:r>
            <a:r>
              <a:rPr lang="hr-HR" dirty="0" err="1"/>
              <a:t>structured</a:t>
            </a:r>
            <a:r>
              <a:rPr lang="hr-HR" dirty="0"/>
              <a:t> </a:t>
            </a:r>
            <a:r>
              <a:rPr lang="hr-HR" dirty="0" err="1"/>
              <a:t>responses</a:t>
            </a:r>
            <a:r>
              <a:rPr lang="hr-HR" dirty="0"/>
              <a:t>.</a:t>
            </a:r>
          </a:p>
          <a:p>
            <a:r>
              <a:rPr lang="hr-HR" dirty="0" err="1"/>
              <a:t>Since</a:t>
            </a:r>
            <a:r>
              <a:rPr lang="hr-HR" dirty="0"/>
              <a:t> </a:t>
            </a:r>
            <a:r>
              <a:rPr lang="hr-HR" dirty="0" err="1"/>
              <a:t>then</a:t>
            </a:r>
            <a:r>
              <a:rPr lang="hr-HR" dirty="0"/>
              <a:t>,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also</a:t>
            </a:r>
            <a:r>
              <a:rPr lang="hr-HR" dirty="0"/>
              <a:t> </a:t>
            </a:r>
            <a:r>
              <a:rPr lang="hr-HR" dirty="0" err="1"/>
              <a:t>started</a:t>
            </a:r>
            <a:r>
              <a:rPr lang="hr-HR" dirty="0"/>
              <a:t> </a:t>
            </a:r>
            <a:r>
              <a:rPr lang="hr-HR" dirty="0" err="1"/>
              <a:t>receiving</a:t>
            </a:r>
            <a:r>
              <a:rPr lang="hr-HR" dirty="0"/>
              <a:t> </a:t>
            </a:r>
            <a:r>
              <a:rPr lang="hr-HR" dirty="0" err="1"/>
              <a:t>critical</a:t>
            </a:r>
            <a:r>
              <a:rPr lang="hr-HR" dirty="0"/>
              <a:t> </a:t>
            </a:r>
            <a:r>
              <a:rPr lang="hr-HR" dirty="0" err="1"/>
              <a:t>feedback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research</a:t>
            </a:r>
            <a:r>
              <a:rPr lang="hr-HR" dirty="0"/>
              <a:t> </a:t>
            </a:r>
            <a:r>
              <a:rPr lang="hr-HR" dirty="0" err="1"/>
              <a:t>perspectives</a:t>
            </a:r>
            <a:r>
              <a:rPr lang="hr-HR" dirty="0"/>
              <a:t>, </a:t>
            </a:r>
            <a:r>
              <a:rPr lang="hr-HR" dirty="0" err="1"/>
              <a:t>including</a:t>
            </a:r>
            <a:r>
              <a:rPr lang="hr-HR" dirty="0"/>
              <a:t> Human-Robot </a:t>
            </a:r>
            <a:r>
              <a:rPr lang="hr-HR" dirty="0" err="1"/>
              <a:t>Interaction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software </a:t>
            </a:r>
            <a:r>
              <a:rPr lang="hr-HR" dirty="0" err="1"/>
              <a:t>engineering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trustworthy</a:t>
            </a:r>
            <a:r>
              <a:rPr lang="hr-HR" dirty="0"/>
              <a:t> AI </a:t>
            </a:r>
            <a:r>
              <a:rPr lang="hr-HR" dirty="0" err="1"/>
              <a:t>perspectives</a:t>
            </a:r>
            <a:r>
              <a:rPr lang="hr-HR" dirty="0"/>
              <a:t>.</a:t>
            </a:r>
          </a:p>
          <a:p>
            <a:r>
              <a:rPr lang="hr-HR" dirty="0"/>
              <a:t>SOFTCOM </a:t>
            </a:r>
            <a:r>
              <a:rPr lang="hr-HR" dirty="0" err="1"/>
              <a:t>therefore</a:t>
            </a:r>
            <a:r>
              <a:rPr lang="hr-HR" dirty="0"/>
              <a:t> </a:t>
            </a:r>
            <a:r>
              <a:rPr lang="hr-HR" dirty="0" err="1"/>
              <a:t>represents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second</a:t>
            </a:r>
            <a:r>
              <a:rPr lang="hr-HR" dirty="0"/>
              <a:t> </a:t>
            </a:r>
            <a:r>
              <a:rPr lang="hr-HR" dirty="0" err="1"/>
              <a:t>empirical</a:t>
            </a:r>
            <a:r>
              <a:rPr lang="hr-HR" dirty="0"/>
              <a:t> </a:t>
            </a:r>
            <a:r>
              <a:rPr lang="hr-HR" dirty="0" err="1"/>
              <a:t>iteration</a:t>
            </a:r>
            <a:r>
              <a:rPr lang="hr-HR" dirty="0"/>
              <a:t>.</a:t>
            </a:r>
          </a:p>
          <a:p>
            <a:r>
              <a:rPr lang="hr-HR" dirty="0" err="1"/>
              <a:t>Today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want</a:t>
            </a:r>
            <a:r>
              <a:rPr lang="hr-HR" dirty="0"/>
              <a:t> to </a:t>
            </a:r>
            <a:r>
              <a:rPr lang="hr-HR" dirty="0" err="1"/>
              <a:t>expose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to </a:t>
            </a:r>
            <a:r>
              <a:rPr lang="hr-HR" dirty="0" err="1"/>
              <a:t>additional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substantially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, </a:t>
            </a:r>
            <a:r>
              <a:rPr lang="hr-HR" dirty="0" err="1"/>
              <a:t>collect</a:t>
            </a:r>
            <a:r>
              <a:rPr lang="hr-HR" dirty="0"/>
              <a:t> </a:t>
            </a:r>
            <a:r>
              <a:rPr lang="hr-HR" dirty="0" err="1"/>
              <a:t>further</a:t>
            </a:r>
            <a:r>
              <a:rPr lang="hr-HR" dirty="0"/>
              <a:t> </a:t>
            </a:r>
            <a:r>
              <a:rPr lang="hr-HR" dirty="0" err="1"/>
              <a:t>structured</a:t>
            </a:r>
            <a:r>
              <a:rPr lang="hr-HR" dirty="0"/>
              <a:t> </a:t>
            </a:r>
            <a:r>
              <a:rPr lang="hr-HR" dirty="0" err="1"/>
              <a:t>reflections</a:t>
            </a:r>
            <a:r>
              <a:rPr lang="hr-HR" dirty="0"/>
              <a:t>, </a:t>
            </a:r>
            <a:r>
              <a:rPr lang="hr-HR" dirty="0" err="1"/>
              <a:t>and</a:t>
            </a:r>
            <a:r>
              <a:rPr lang="hr-HR" dirty="0"/>
              <a:t> — </a:t>
            </a:r>
            <a:r>
              <a:rPr lang="hr-HR" dirty="0" err="1"/>
              <a:t>importantly</a:t>
            </a:r>
            <a:r>
              <a:rPr lang="hr-HR" dirty="0"/>
              <a:t> — </a:t>
            </a:r>
            <a:r>
              <a:rPr lang="hr-HR" dirty="0" err="1"/>
              <a:t>examine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</a:t>
            </a:r>
            <a:r>
              <a:rPr lang="hr-HR" dirty="0" err="1"/>
              <a:t>itself</a:t>
            </a:r>
            <a:r>
              <a:rPr lang="hr-HR" dirty="0"/>
              <a:t>.</a:t>
            </a:r>
          </a:p>
          <a:p>
            <a:r>
              <a:rPr lang="hr-HR" dirty="0" err="1"/>
              <a:t>After</a:t>
            </a:r>
            <a:r>
              <a:rPr lang="hr-HR" dirty="0"/>
              <a:t> </a:t>
            </a:r>
            <a:r>
              <a:rPr lang="hr-HR" dirty="0" err="1"/>
              <a:t>this</a:t>
            </a:r>
            <a:r>
              <a:rPr lang="hr-HR" dirty="0"/>
              <a:t>,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intention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to </a:t>
            </a:r>
            <a:r>
              <a:rPr lang="hr-HR" dirty="0" err="1"/>
              <a:t>move</a:t>
            </a:r>
            <a:r>
              <a:rPr lang="hr-HR" dirty="0"/>
              <a:t> </a:t>
            </a:r>
            <a:r>
              <a:rPr lang="hr-HR" dirty="0" err="1"/>
              <a:t>towards</a:t>
            </a:r>
            <a:r>
              <a:rPr lang="hr-HR" dirty="0"/>
              <a:t> </a:t>
            </a:r>
            <a:r>
              <a:rPr lang="hr-HR" dirty="0" err="1"/>
              <a:t>richer</a:t>
            </a:r>
            <a:r>
              <a:rPr lang="hr-HR" dirty="0"/>
              <a:t> </a:t>
            </a:r>
            <a:r>
              <a:rPr lang="hr-HR" dirty="0" err="1"/>
              <a:t>case</a:t>
            </a:r>
            <a:r>
              <a:rPr lang="hr-HR" dirty="0"/>
              <a:t> </a:t>
            </a:r>
            <a:r>
              <a:rPr lang="hr-HR" dirty="0" err="1"/>
              <a:t>studies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cross-domain</a:t>
            </a:r>
            <a:r>
              <a:rPr lang="hr-HR" dirty="0"/>
              <a:t> </a:t>
            </a:r>
            <a:r>
              <a:rPr lang="hr-HR" dirty="0" err="1"/>
              <a:t>synthesis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5739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There</a:t>
            </a:r>
            <a:r>
              <a:rPr lang="hr-HR" dirty="0"/>
              <a:t> are </a:t>
            </a:r>
            <a:r>
              <a:rPr lang="hr-HR" dirty="0" err="1"/>
              <a:t>actually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things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could</a:t>
            </a:r>
            <a:r>
              <a:rPr lang="hr-HR" dirty="0"/>
              <a:t> </a:t>
            </a:r>
            <a:r>
              <a:rPr lang="hr-HR" dirty="0" err="1"/>
              <a:t>mean</a:t>
            </a:r>
            <a:r>
              <a:rPr lang="hr-HR" dirty="0"/>
              <a:t> </a:t>
            </a:r>
            <a:r>
              <a:rPr lang="hr-HR" dirty="0" err="1"/>
              <a:t>when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say</a:t>
            </a:r>
            <a:r>
              <a:rPr lang="hr-HR" dirty="0"/>
              <a:t> “</a:t>
            </a:r>
            <a:r>
              <a:rPr lang="hr-HR" dirty="0" err="1"/>
              <a:t>framework</a:t>
            </a:r>
            <a:r>
              <a:rPr lang="hr-HR" dirty="0"/>
              <a:t>”, </a:t>
            </a:r>
            <a:r>
              <a:rPr lang="hr-HR" dirty="0" err="1"/>
              <a:t>and</a:t>
            </a:r>
            <a:r>
              <a:rPr lang="hr-HR" dirty="0"/>
              <a:t> I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to </a:t>
            </a:r>
            <a:r>
              <a:rPr lang="hr-HR" dirty="0" err="1"/>
              <a:t>distinguish</a:t>
            </a:r>
            <a:r>
              <a:rPr lang="hr-HR" dirty="0"/>
              <a:t> </a:t>
            </a:r>
            <a:r>
              <a:rPr lang="hr-HR" dirty="0" err="1"/>
              <a:t>them</a:t>
            </a:r>
            <a:r>
              <a:rPr lang="hr-HR" dirty="0"/>
              <a:t>.</a:t>
            </a:r>
          </a:p>
          <a:p>
            <a:r>
              <a:rPr lang="hr-HR" dirty="0"/>
              <a:t>At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first</a:t>
            </a:r>
            <a:r>
              <a:rPr lang="hr-HR" dirty="0"/>
              <a:t> </a:t>
            </a:r>
            <a:r>
              <a:rPr lang="hr-HR" dirty="0" err="1"/>
              <a:t>level</a:t>
            </a:r>
            <a:r>
              <a:rPr lang="hr-HR" dirty="0"/>
              <a:t>,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need</a:t>
            </a:r>
            <a:r>
              <a:rPr lang="hr-HR" dirty="0"/>
              <a:t> a </a:t>
            </a:r>
            <a:r>
              <a:rPr lang="hr-HR" b="1" dirty="0" err="1"/>
              <a:t>common</a:t>
            </a:r>
            <a:r>
              <a:rPr lang="hr-HR" b="1" dirty="0"/>
              <a:t> </a:t>
            </a:r>
            <a:r>
              <a:rPr lang="hr-HR" b="1" dirty="0" err="1"/>
              <a:t>reporting</a:t>
            </a:r>
            <a:r>
              <a:rPr lang="hr-HR" b="1" dirty="0"/>
              <a:t> </a:t>
            </a:r>
            <a:r>
              <a:rPr lang="hr-HR" b="1" dirty="0" err="1"/>
              <a:t>structure</a:t>
            </a:r>
            <a:r>
              <a:rPr lang="hr-HR" dirty="0"/>
              <a:t>. </a:t>
            </a:r>
            <a:r>
              <a:rPr lang="hr-HR" dirty="0" err="1"/>
              <a:t>If</a:t>
            </a:r>
            <a:r>
              <a:rPr lang="hr-HR" dirty="0"/>
              <a:t> </a:t>
            </a:r>
            <a:r>
              <a:rPr lang="hr-HR" dirty="0" err="1"/>
              <a:t>studies</a:t>
            </a:r>
            <a:r>
              <a:rPr lang="hr-HR" dirty="0"/>
              <a:t> </a:t>
            </a:r>
            <a:r>
              <a:rPr lang="hr-HR" dirty="0" err="1"/>
              <a:t>describe</a:t>
            </a:r>
            <a:r>
              <a:rPr lang="hr-HR" dirty="0"/>
              <a:t> LLM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using</a:t>
            </a:r>
            <a:r>
              <a:rPr lang="hr-HR" dirty="0"/>
              <a:t> </a:t>
            </a:r>
            <a:r>
              <a:rPr lang="hr-HR" dirty="0" err="1"/>
              <a:t>completely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concepts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levels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detail</a:t>
            </a:r>
            <a:r>
              <a:rPr lang="hr-HR" dirty="0"/>
              <a:t>, </a:t>
            </a:r>
            <a:r>
              <a:rPr lang="hr-HR" dirty="0" err="1"/>
              <a:t>meaningful</a:t>
            </a:r>
            <a:r>
              <a:rPr lang="hr-HR" dirty="0"/>
              <a:t> </a:t>
            </a:r>
            <a:r>
              <a:rPr lang="hr-HR" dirty="0" err="1"/>
              <a:t>comparison</a:t>
            </a:r>
            <a:r>
              <a:rPr lang="hr-HR" dirty="0"/>
              <a:t> </a:t>
            </a:r>
            <a:r>
              <a:rPr lang="hr-HR" dirty="0" err="1"/>
              <a:t>becomes</a:t>
            </a:r>
            <a:r>
              <a:rPr lang="hr-HR" dirty="0"/>
              <a:t> </a:t>
            </a:r>
            <a:r>
              <a:rPr lang="hr-HR" dirty="0" err="1"/>
              <a:t>very</a:t>
            </a:r>
            <a:r>
              <a:rPr lang="hr-HR" dirty="0"/>
              <a:t> </a:t>
            </a:r>
            <a:r>
              <a:rPr lang="hr-HR" dirty="0" err="1"/>
              <a:t>difficult</a:t>
            </a:r>
            <a:r>
              <a:rPr lang="hr-HR" dirty="0"/>
              <a:t>.</a:t>
            </a:r>
          </a:p>
          <a:p>
            <a:r>
              <a:rPr lang="hr-HR" dirty="0"/>
              <a:t>At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second</a:t>
            </a:r>
            <a:r>
              <a:rPr lang="hr-HR" dirty="0"/>
              <a:t> </a:t>
            </a:r>
            <a:r>
              <a:rPr lang="hr-HR" dirty="0" err="1"/>
              <a:t>level</a:t>
            </a:r>
            <a:r>
              <a:rPr lang="hr-HR" dirty="0"/>
              <a:t>, </a:t>
            </a:r>
            <a:r>
              <a:rPr lang="hr-HR" dirty="0" err="1"/>
              <a:t>once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comparable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,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begin</a:t>
            </a:r>
            <a:r>
              <a:rPr lang="hr-HR" dirty="0"/>
              <a:t> </a:t>
            </a:r>
            <a:r>
              <a:rPr lang="hr-HR" dirty="0" err="1"/>
              <a:t>identifying</a:t>
            </a:r>
            <a:r>
              <a:rPr lang="hr-HR" dirty="0"/>
              <a:t> </a:t>
            </a:r>
            <a:r>
              <a:rPr lang="hr-HR" dirty="0" err="1"/>
              <a:t>recurring</a:t>
            </a:r>
            <a:r>
              <a:rPr lang="hr-HR" dirty="0"/>
              <a:t> </a:t>
            </a:r>
            <a:r>
              <a:rPr lang="hr-HR" dirty="0" err="1"/>
              <a:t>patterns</a:t>
            </a:r>
            <a:r>
              <a:rPr lang="hr-HR" dirty="0"/>
              <a:t>: </a:t>
            </a:r>
            <a:r>
              <a:rPr lang="hr-HR" dirty="0" err="1"/>
              <a:t>common</a:t>
            </a:r>
            <a:r>
              <a:rPr lang="hr-HR" dirty="0"/>
              <a:t> </a:t>
            </a:r>
            <a:r>
              <a:rPr lang="hr-HR" dirty="0" err="1"/>
              <a:t>challenges</a:t>
            </a:r>
            <a:r>
              <a:rPr lang="hr-HR" dirty="0"/>
              <a:t>, </a:t>
            </a:r>
            <a:r>
              <a:rPr lang="hr-HR" dirty="0" err="1"/>
              <a:t>benefits</a:t>
            </a:r>
            <a:r>
              <a:rPr lang="hr-HR" dirty="0"/>
              <a:t>, human </a:t>
            </a:r>
            <a:r>
              <a:rPr lang="hr-HR" dirty="0" err="1"/>
              <a:t>roles</a:t>
            </a:r>
            <a:r>
              <a:rPr lang="hr-HR" dirty="0"/>
              <a:t>, </a:t>
            </a:r>
            <a:r>
              <a:rPr lang="hr-HR" dirty="0" err="1"/>
              <a:t>contextual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,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boundary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.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gives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a </a:t>
            </a:r>
            <a:r>
              <a:rPr lang="hr-HR" b="1" dirty="0" err="1"/>
              <a:t>cross-domain</a:t>
            </a:r>
            <a:r>
              <a:rPr lang="hr-HR" b="1" dirty="0"/>
              <a:t> </a:t>
            </a:r>
            <a:r>
              <a:rPr lang="hr-HR" b="1" dirty="0" err="1"/>
              <a:t>analytical</a:t>
            </a:r>
            <a:r>
              <a:rPr lang="hr-HR" b="1" dirty="0"/>
              <a:t> </a:t>
            </a:r>
            <a:r>
              <a:rPr lang="hr-HR" b="1" dirty="0" err="1"/>
              <a:t>framework</a:t>
            </a:r>
            <a:r>
              <a:rPr lang="hr-HR" dirty="0"/>
              <a:t>.</a:t>
            </a:r>
          </a:p>
          <a:p>
            <a:r>
              <a:rPr lang="hr-HR" dirty="0" err="1"/>
              <a:t>Only</a:t>
            </a:r>
            <a:r>
              <a:rPr lang="hr-HR" dirty="0"/>
              <a:t> </a:t>
            </a:r>
            <a:r>
              <a:rPr lang="hr-HR" dirty="0" err="1"/>
              <a:t>after</a:t>
            </a:r>
            <a:r>
              <a:rPr lang="hr-HR" dirty="0"/>
              <a:t> </a:t>
            </a:r>
            <a:r>
              <a:rPr lang="hr-HR" dirty="0" err="1"/>
              <a:t>accumulating</a:t>
            </a:r>
            <a:r>
              <a:rPr lang="hr-HR" dirty="0"/>
              <a:t> </a:t>
            </a:r>
            <a:r>
              <a:rPr lang="hr-HR" dirty="0" err="1"/>
              <a:t>sufficient</a:t>
            </a:r>
            <a:r>
              <a:rPr lang="hr-HR" dirty="0"/>
              <a:t> </a:t>
            </a:r>
            <a:r>
              <a:rPr lang="hr-HR" dirty="0" err="1"/>
              <a:t>empirical</a:t>
            </a:r>
            <a:r>
              <a:rPr lang="hr-HR" dirty="0"/>
              <a:t> </a:t>
            </a:r>
            <a:r>
              <a:rPr lang="hr-HR" dirty="0" err="1"/>
              <a:t>evidence</a:t>
            </a:r>
            <a:r>
              <a:rPr lang="hr-HR" dirty="0"/>
              <a:t> </a:t>
            </a:r>
            <a:r>
              <a:rPr lang="hr-HR" dirty="0" err="1"/>
              <a:t>could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move</a:t>
            </a:r>
            <a:r>
              <a:rPr lang="hr-HR" dirty="0"/>
              <a:t> </a:t>
            </a:r>
            <a:r>
              <a:rPr lang="hr-HR" dirty="0" err="1"/>
              <a:t>towards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third</a:t>
            </a:r>
            <a:r>
              <a:rPr lang="hr-HR" dirty="0"/>
              <a:t> </a:t>
            </a:r>
            <a:r>
              <a:rPr lang="hr-HR" dirty="0" err="1"/>
              <a:t>level</a:t>
            </a:r>
            <a:r>
              <a:rPr lang="hr-HR" dirty="0"/>
              <a:t>: </a:t>
            </a:r>
            <a:r>
              <a:rPr lang="hr-HR" b="1" dirty="0" err="1"/>
              <a:t>evidence-based</a:t>
            </a:r>
            <a:r>
              <a:rPr lang="hr-HR" b="1" dirty="0"/>
              <a:t> </a:t>
            </a:r>
            <a:r>
              <a:rPr lang="hr-HR" b="1" dirty="0" err="1"/>
              <a:t>adoption</a:t>
            </a:r>
            <a:r>
              <a:rPr lang="hr-HR" b="1" dirty="0"/>
              <a:t> </a:t>
            </a:r>
            <a:r>
              <a:rPr lang="hr-HR" b="1" dirty="0" err="1"/>
              <a:t>guidance</a:t>
            </a:r>
            <a:r>
              <a:rPr lang="hr-HR" dirty="0"/>
              <a:t> —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organizations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actually</a:t>
            </a:r>
            <a:r>
              <a:rPr lang="hr-HR" dirty="0"/>
              <a:t> </a:t>
            </a:r>
            <a:r>
              <a:rPr lang="hr-HR" dirty="0" err="1"/>
              <a:t>learn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reproduce</a:t>
            </a:r>
            <a:r>
              <a:rPr lang="hr-HR" dirty="0"/>
              <a:t>.</a:t>
            </a:r>
          </a:p>
          <a:p>
            <a:r>
              <a:rPr lang="hr-HR" dirty="0" err="1"/>
              <a:t>Today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are </a:t>
            </a:r>
            <a:r>
              <a:rPr lang="hr-HR" dirty="0" err="1"/>
              <a:t>primarily</a:t>
            </a:r>
            <a:r>
              <a:rPr lang="hr-HR" dirty="0"/>
              <a:t> </a:t>
            </a:r>
            <a:r>
              <a:rPr lang="hr-HR" dirty="0" err="1"/>
              <a:t>working</a:t>
            </a:r>
            <a:r>
              <a:rPr lang="hr-HR" dirty="0"/>
              <a:t> </a:t>
            </a:r>
            <a:r>
              <a:rPr lang="hr-HR" dirty="0" err="1"/>
              <a:t>between</a:t>
            </a:r>
            <a:r>
              <a:rPr lang="hr-HR" dirty="0"/>
              <a:t> </a:t>
            </a:r>
            <a:r>
              <a:rPr lang="hr-HR" dirty="0" err="1"/>
              <a:t>levels</a:t>
            </a:r>
            <a:r>
              <a:rPr lang="hr-HR" dirty="0"/>
              <a:t> one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two</a:t>
            </a:r>
            <a:r>
              <a:rPr lang="hr-HR" dirty="0"/>
              <a:t>.</a:t>
            </a:r>
          </a:p>
          <a:p>
            <a:r>
              <a:rPr lang="hr-HR" dirty="0" err="1"/>
              <a:t>We</a:t>
            </a:r>
            <a:r>
              <a:rPr lang="hr-HR" dirty="0"/>
              <a:t> are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claiming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already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a </a:t>
            </a:r>
            <a:r>
              <a:rPr lang="hr-HR" dirty="0" err="1"/>
              <a:t>validated</a:t>
            </a:r>
            <a:r>
              <a:rPr lang="hr-HR" dirty="0"/>
              <a:t> procedure </a:t>
            </a:r>
            <a:r>
              <a:rPr lang="hr-HR" dirty="0" err="1"/>
              <a:t>telling</a:t>
            </a:r>
            <a:r>
              <a:rPr lang="hr-HR" dirty="0"/>
              <a:t> </a:t>
            </a:r>
            <a:r>
              <a:rPr lang="hr-HR" dirty="0" err="1"/>
              <a:t>organizations</a:t>
            </a:r>
            <a:r>
              <a:rPr lang="hr-HR" dirty="0"/>
              <a:t> how </a:t>
            </a:r>
            <a:r>
              <a:rPr lang="hr-HR" dirty="0" err="1"/>
              <a:t>they</a:t>
            </a:r>
            <a:r>
              <a:rPr lang="hr-HR" dirty="0"/>
              <a:t> </a:t>
            </a:r>
            <a:r>
              <a:rPr lang="hr-HR" dirty="0" err="1"/>
              <a:t>should</a:t>
            </a:r>
            <a:r>
              <a:rPr lang="hr-HR" dirty="0"/>
              <a:t> </a:t>
            </a:r>
            <a:r>
              <a:rPr lang="hr-HR" dirty="0" err="1"/>
              <a:t>adopt</a:t>
            </a:r>
            <a:r>
              <a:rPr lang="hr-HR" dirty="0"/>
              <a:t> </a:t>
            </a:r>
            <a:r>
              <a:rPr lang="hr-HR" dirty="0" err="1"/>
              <a:t>LLMs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97273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“Ovdje dolazimo do human-</a:t>
            </a:r>
            <a:r>
              <a:rPr lang="hr-HR" dirty="0" err="1"/>
              <a:t>centered</a:t>
            </a:r>
            <a:r>
              <a:rPr lang="hr-HR" dirty="0"/>
              <a:t> perspektive.</a:t>
            </a:r>
          </a:p>
          <a:p>
            <a:r>
              <a:rPr lang="hr-HR" dirty="0"/>
              <a:t>LLM sustavi nisu izolirani alati. Oni postaju dio:</a:t>
            </a:r>
          </a:p>
          <a:p>
            <a:r>
              <a:rPr lang="hr-HR" dirty="0"/>
              <a:t>organizacijskih procesa, </a:t>
            </a:r>
          </a:p>
          <a:p>
            <a:r>
              <a:rPr lang="hr-HR" dirty="0"/>
              <a:t>razvojnih </a:t>
            </a:r>
            <a:r>
              <a:rPr lang="hr-HR" dirty="0" err="1"/>
              <a:t>pipelineova</a:t>
            </a:r>
            <a:r>
              <a:rPr lang="hr-HR" dirty="0"/>
              <a:t>, </a:t>
            </a:r>
          </a:p>
          <a:p>
            <a:r>
              <a:rPr lang="hr-HR" dirty="0"/>
              <a:t>donošenja odluka, </a:t>
            </a:r>
          </a:p>
          <a:p>
            <a:r>
              <a:rPr lang="hr-HR" dirty="0"/>
              <a:t>i interakcije između više sudionika. </a:t>
            </a:r>
          </a:p>
          <a:p>
            <a:r>
              <a:rPr lang="hr-HR" dirty="0"/>
              <a:t>Zbog toga pitanja poput:</a:t>
            </a:r>
          </a:p>
          <a:p>
            <a:r>
              <a:rPr lang="hr-HR" dirty="0"/>
              <a:t>transparentnosti, </a:t>
            </a:r>
          </a:p>
          <a:p>
            <a:r>
              <a:rPr lang="hr-HR" dirty="0"/>
              <a:t>ljudskog nadzora, </a:t>
            </a:r>
          </a:p>
          <a:p>
            <a:r>
              <a:rPr lang="hr-HR" dirty="0"/>
              <a:t>odgovornosti, </a:t>
            </a:r>
          </a:p>
          <a:p>
            <a:r>
              <a:rPr lang="hr-HR" dirty="0"/>
              <a:t>i održive integracije </a:t>
            </a:r>
          </a:p>
          <a:p>
            <a:r>
              <a:rPr lang="hr-HR" dirty="0"/>
              <a:t>postaju jednako važna kao i sama tehnička izvedba.</a:t>
            </a:r>
          </a:p>
          <a:p>
            <a:r>
              <a:rPr lang="hr-HR" dirty="0"/>
              <a:t>To je posebno važno u software </a:t>
            </a:r>
            <a:r>
              <a:rPr lang="hr-HR" dirty="0" err="1"/>
              <a:t>engineeringu</a:t>
            </a:r>
            <a:r>
              <a:rPr lang="hr-HR" dirty="0"/>
              <a:t> i reguliranim domenama gdje AI mijenja ne samo alat nego i način rada ljudi.”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8856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structure</a:t>
            </a:r>
            <a:r>
              <a:rPr lang="hr-HR" dirty="0"/>
              <a:t> </a:t>
            </a:r>
            <a:r>
              <a:rPr lang="hr-HR" dirty="0" err="1"/>
              <a:t>proposed</a:t>
            </a:r>
            <a:r>
              <a:rPr lang="hr-HR" dirty="0"/>
              <a:t> at MIPRO.</a:t>
            </a:r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deliberately</a:t>
            </a:r>
            <a:r>
              <a:rPr lang="hr-HR" dirty="0"/>
              <a:t> </a:t>
            </a:r>
            <a:r>
              <a:rPr lang="hr-HR" dirty="0" err="1"/>
              <a:t>started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nine</a:t>
            </a:r>
            <a:r>
              <a:rPr lang="hr-HR" dirty="0"/>
              <a:t> </a:t>
            </a:r>
            <a:r>
              <a:rPr lang="hr-HR" dirty="0" err="1"/>
              <a:t>simple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.</a:t>
            </a:r>
          </a:p>
          <a:p>
            <a:r>
              <a:rPr lang="hr-HR" b="1" dirty="0"/>
              <a:t>Problem: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being</a:t>
            </a:r>
            <a:r>
              <a:rPr lang="hr-HR" dirty="0"/>
              <a:t> </a:t>
            </a:r>
            <a:r>
              <a:rPr lang="hr-HR" dirty="0" err="1"/>
              <a:t>solved</a:t>
            </a:r>
            <a:r>
              <a:rPr lang="hr-HR" dirty="0"/>
              <a:t>?</a:t>
            </a:r>
          </a:p>
          <a:p>
            <a:r>
              <a:rPr lang="hr-HR" b="1" dirty="0" err="1"/>
              <a:t>Solution</a:t>
            </a:r>
            <a:r>
              <a:rPr lang="hr-HR" b="1" dirty="0"/>
              <a:t>:</a:t>
            </a:r>
            <a:r>
              <a:rPr lang="hr-HR" dirty="0"/>
              <a:t> How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solved</a:t>
            </a:r>
            <a:r>
              <a:rPr lang="hr-HR" dirty="0"/>
              <a:t>?</a:t>
            </a:r>
          </a:p>
          <a:p>
            <a:r>
              <a:rPr lang="hr-HR" b="1" dirty="0"/>
              <a:t>Human </a:t>
            </a:r>
            <a:r>
              <a:rPr lang="hr-HR" b="1" dirty="0" err="1"/>
              <a:t>Interaction</a:t>
            </a:r>
            <a:r>
              <a:rPr lang="hr-HR" b="1" dirty="0"/>
              <a:t>:</a:t>
            </a:r>
            <a:r>
              <a:rPr lang="hr-HR" dirty="0"/>
              <a:t> How do </a:t>
            </a:r>
            <a:r>
              <a:rPr lang="hr-HR" dirty="0" err="1"/>
              <a:t>humans</a:t>
            </a:r>
            <a:r>
              <a:rPr lang="hr-HR" dirty="0"/>
              <a:t> </a:t>
            </a:r>
            <a:r>
              <a:rPr lang="hr-HR" dirty="0" err="1"/>
              <a:t>engage</a:t>
            </a:r>
            <a:r>
              <a:rPr lang="hr-HR" dirty="0"/>
              <a:t>?</a:t>
            </a:r>
          </a:p>
          <a:p>
            <a:r>
              <a:rPr lang="hr-HR" b="1" dirty="0" err="1"/>
              <a:t>Context</a:t>
            </a:r>
            <a:r>
              <a:rPr lang="hr-HR" b="1" dirty="0"/>
              <a:t>:</a:t>
            </a:r>
            <a:r>
              <a:rPr lang="hr-HR" dirty="0"/>
              <a:t> </a:t>
            </a:r>
            <a:r>
              <a:rPr lang="hr-HR" dirty="0" err="1"/>
              <a:t>Under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?</a:t>
            </a:r>
          </a:p>
          <a:p>
            <a:r>
              <a:rPr lang="hr-HR" b="1" dirty="0" err="1"/>
              <a:t>Evaluation</a:t>
            </a:r>
            <a:r>
              <a:rPr lang="hr-HR" b="1" dirty="0"/>
              <a:t>: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effect</a:t>
            </a:r>
            <a:r>
              <a:rPr lang="hr-HR" dirty="0"/>
              <a:t>?</a:t>
            </a:r>
          </a:p>
          <a:p>
            <a:r>
              <a:rPr lang="hr-HR" b="1" dirty="0" err="1"/>
              <a:t>Challenges</a:t>
            </a:r>
            <a:r>
              <a:rPr lang="hr-HR" b="1" dirty="0"/>
              <a:t>: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limits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?</a:t>
            </a:r>
          </a:p>
          <a:p>
            <a:r>
              <a:rPr lang="hr-HR" b="1" dirty="0" err="1"/>
              <a:t>Benefits</a:t>
            </a:r>
            <a:r>
              <a:rPr lang="hr-HR" b="1" dirty="0"/>
              <a:t>: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value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created</a:t>
            </a:r>
            <a:r>
              <a:rPr lang="hr-HR" dirty="0"/>
              <a:t>?</a:t>
            </a:r>
          </a:p>
          <a:p>
            <a:r>
              <a:rPr lang="hr-HR" b="1" dirty="0" err="1"/>
              <a:t>Transferability</a:t>
            </a:r>
            <a:r>
              <a:rPr lang="hr-HR" b="1" dirty="0"/>
              <a:t>: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generalizes</a:t>
            </a:r>
            <a:r>
              <a:rPr lang="hr-HR" dirty="0"/>
              <a:t>?</a:t>
            </a:r>
          </a:p>
          <a:p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finally</a:t>
            </a:r>
            <a:r>
              <a:rPr lang="hr-HR" dirty="0"/>
              <a:t> </a:t>
            </a:r>
            <a:r>
              <a:rPr lang="hr-HR" b="1" dirty="0" err="1"/>
              <a:t>Process</a:t>
            </a:r>
            <a:r>
              <a:rPr lang="hr-HR" b="1" dirty="0"/>
              <a:t>:</a:t>
            </a:r>
            <a:r>
              <a:rPr lang="hr-HR" dirty="0"/>
              <a:t> How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successful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reproduced</a:t>
            </a:r>
            <a:r>
              <a:rPr lang="hr-HR" dirty="0"/>
              <a:t>?</a:t>
            </a:r>
          </a:p>
          <a:p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simplicity</a:t>
            </a:r>
            <a:r>
              <a:rPr lang="hr-HR" dirty="0"/>
              <a:t> </a:t>
            </a:r>
            <a:r>
              <a:rPr lang="hr-HR" dirty="0" err="1"/>
              <a:t>was</a:t>
            </a:r>
            <a:r>
              <a:rPr lang="hr-HR" dirty="0"/>
              <a:t> </a:t>
            </a:r>
            <a:r>
              <a:rPr lang="hr-HR" dirty="0" err="1"/>
              <a:t>intentional</a:t>
            </a:r>
            <a:r>
              <a:rPr lang="hr-HR" dirty="0"/>
              <a:t>.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wanted</a:t>
            </a:r>
            <a:r>
              <a:rPr lang="hr-HR" dirty="0"/>
              <a:t> </a:t>
            </a:r>
            <a:r>
              <a:rPr lang="hr-HR" dirty="0" err="1"/>
              <a:t>something</a:t>
            </a:r>
            <a:r>
              <a:rPr lang="hr-HR" dirty="0"/>
              <a:t> </a:t>
            </a:r>
            <a:r>
              <a:rPr lang="hr-HR" dirty="0" err="1"/>
              <a:t>applicable</a:t>
            </a:r>
            <a:r>
              <a:rPr lang="hr-HR" dirty="0"/>
              <a:t> </a:t>
            </a:r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very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domains</a:t>
            </a:r>
            <a:r>
              <a:rPr lang="hr-HR" dirty="0"/>
              <a:t>.</a:t>
            </a:r>
          </a:p>
          <a:p>
            <a:r>
              <a:rPr lang="hr-HR" dirty="0"/>
              <a:t>But </a:t>
            </a:r>
            <a:r>
              <a:rPr lang="hr-HR" dirty="0" err="1"/>
              <a:t>simplicity</a:t>
            </a:r>
            <a:r>
              <a:rPr lang="hr-HR" dirty="0"/>
              <a:t> </a:t>
            </a:r>
            <a:r>
              <a:rPr lang="hr-HR" dirty="0" err="1"/>
              <a:t>creates</a:t>
            </a:r>
            <a:r>
              <a:rPr lang="hr-HR" dirty="0"/>
              <a:t> </a:t>
            </a:r>
            <a:r>
              <a:rPr lang="hr-HR" dirty="0" err="1"/>
              <a:t>another</a:t>
            </a:r>
            <a:r>
              <a:rPr lang="hr-HR" dirty="0"/>
              <a:t> problem: </a:t>
            </a:r>
            <a:r>
              <a:rPr lang="hr-HR" dirty="0" err="1"/>
              <a:t>perhaps</a:t>
            </a:r>
            <a:r>
              <a:rPr lang="hr-HR" dirty="0"/>
              <a:t> some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these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 are </a:t>
            </a:r>
            <a:r>
              <a:rPr lang="hr-HR" dirty="0" err="1"/>
              <a:t>too</a:t>
            </a:r>
            <a:r>
              <a:rPr lang="hr-HR" dirty="0"/>
              <a:t> </a:t>
            </a:r>
            <a:r>
              <a:rPr lang="hr-HR" dirty="0" err="1"/>
              <a:t>broad</a:t>
            </a:r>
            <a:r>
              <a:rPr lang="hr-HR" dirty="0"/>
              <a:t> to </a:t>
            </a:r>
            <a:r>
              <a:rPr lang="hr-HR" dirty="0" err="1"/>
              <a:t>produce</a:t>
            </a:r>
            <a:r>
              <a:rPr lang="hr-HR" dirty="0"/>
              <a:t> </a:t>
            </a:r>
            <a:r>
              <a:rPr lang="hr-HR" dirty="0" err="1"/>
              <a:t>genuinely</a:t>
            </a:r>
            <a:r>
              <a:rPr lang="hr-HR" dirty="0"/>
              <a:t> </a:t>
            </a:r>
            <a:r>
              <a:rPr lang="hr-HR" dirty="0" err="1"/>
              <a:t>comparable</a:t>
            </a:r>
            <a:r>
              <a:rPr lang="hr-HR" dirty="0"/>
              <a:t> </a:t>
            </a:r>
            <a:r>
              <a:rPr lang="hr-HR" dirty="0" err="1"/>
              <a:t>answers</a:t>
            </a:r>
            <a:r>
              <a:rPr lang="hr-HR" dirty="0"/>
              <a:t>.</a:t>
            </a:r>
          </a:p>
          <a:p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one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things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want</a:t>
            </a:r>
            <a:r>
              <a:rPr lang="hr-HR" dirty="0"/>
              <a:t> to </a:t>
            </a:r>
            <a:r>
              <a:rPr lang="hr-HR" dirty="0" err="1"/>
              <a:t>investigate</a:t>
            </a:r>
            <a:r>
              <a:rPr lang="hr-HR" dirty="0"/>
              <a:t> </a:t>
            </a:r>
            <a:r>
              <a:rPr lang="hr-HR" dirty="0" err="1"/>
              <a:t>today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95652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Since</a:t>
            </a:r>
            <a:r>
              <a:rPr lang="hr-HR" dirty="0"/>
              <a:t> MIPRO, one </a:t>
            </a:r>
            <a:r>
              <a:rPr lang="hr-HR" dirty="0" err="1"/>
              <a:t>particularly</a:t>
            </a:r>
            <a:r>
              <a:rPr lang="hr-HR" dirty="0"/>
              <a:t> </a:t>
            </a:r>
            <a:r>
              <a:rPr lang="hr-HR" dirty="0" err="1"/>
              <a:t>useful</a:t>
            </a:r>
            <a:r>
              <a:rPr lang="hr-HR" dirty="0"/>
              <a:t> </a:t>
            </a:r>
            <a:r>
              <a:rPr lang="hr-HR" dirty="0" err="1"/>
              <a:t>criticism</a:t>
            </a:r>
            <a:r>
              <a:rPr lang="hr-HR" dirty="0"/>
              <a:t> </a:t>
            </a:r>
            <a:r>
              <a:rPr lang="hr-HR" dirty="0" err="1"/>
              <a:t>has</a:t>
            </a:r>
            <a:r>
              <a:rPr lang="hr-HR" dirty="0"/>
              <a:t> </a:t>
            </a:r>
            <a:r>
              <a:rPr lang="hr-HR" dirty="0" err="1"/>
              <a:t>emerged</a:t>
            </a:r>
            <a:r>
              <a:rPr lang="hr-HR" dirty="0"/>
              <a:t>.</a:t>
            </a:r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call</a:t>
            </a:r>
            <a:r>
              <a:rPr lang="hr-HR" dirty="0"/>
              <a:t> </a:t>
            </a:r>
            <a:r>
              <a:rPr lang="hr-HR" dirty="0" err="1"/>
              <a:t>this</a:t>
            </a:r>
            <a:r>
              <a:rPr lang="hr-HR" dirty="0"/>
              <a:t> a 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. But are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actually</a:t>
            </a:r>
            <a:r>
              <a:rPr lang="hr-HR" dirty="0"/>
              <a:t> 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enough</a:t>
            </a:r>
            <a:r>
              <a:rPr lang="hr-HR" dirty="0"/>
              <a:t>?</a:t>
            </a:r>
          </a:p>
          <a:p>
            <a:r>
              <a:rPr lang="hr-HR" dirty="0"/>
              <a:t>Take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question</a:t>
            </a:r>
            <a:r>
              <a:rPr lang="hr-HR" dirty="0"/>
              <a:t>: </a:t>
            </a:r>
            <a:r>
              <a:rPr lang="hr-HR" b="1" dirty="0"/>
              <a:t>How do </a:t>
            </a:r>
            <a:r>
              <a:rPr lang="hr-HR" b="1" dirty="0" err="1"/>
              <a:t>humans</a:t>
            </a:r>
            <a:r>
              <a:rPr lang="hr-HR" b="1" dirty="0"/>
              <a:t> </a:t>
            </a:r>
            <a:r>
              <a:rPr lang="hr-HR" b="1" dirty="0" err="1"/>
              <a:t>engage</a:t>
            </a:r>
            <a:r>
              <a:rPr lang="hr-HR" b="1" dirty="0"/>
              <a:t>?</a:t>
            </a:r>
            <a:endParaRPr lang="hr-HR" dirty="0"/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answer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entirely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system </a:t>
            </a:r>
            <a:r>
              <a:rPr lang="hr-HR" dirty="0" err="1"/>
              <a:t>perspective</a:t>
            </a:r>
            <a:r>
              <a:rPr lang="hr-HR" dirty="0"/>
              <a:t>: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provides</a:t>
            </a:r>
            <a:r>
              <a:rPr lang="hr-HR" dirty="0"/>
              <a:t> a </a:t>
            </a:r>
            <a:r>
              <a:rPr lang="hr-HR" dirty="0" err="1"/>
              <a:t>prompt</a:t>
            </a:r>
            <a:r>
              <a:rPr lang="hr-HR" dirty="0"/>
              <a:t>, </a:t>
            </a:r>
            <a:r>
              <a:rPr lang="hr-HR" dirty="0" err="1"/>
              <a:t>receives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output, </a:t>
            </a:r>
            <a:r>
              <a:rPr lang="hr-HR" dirty="0" err="1"/>
              <a:t>validates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,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so</a:t>
            </a:r>
            <a:r>
              <a:rPr lang="hr-HR" dirty="0"/>
              <a:t> on.</a:t>
            </a:r>
          </a:p>
          <a:p>
            <a:r>
              <a:rPr lang="hr-HR" dirty="0"/>
              <a:t>But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necessarily</a:t>
            </a:r>
            <a:r>
              <a:rPr lang="hr-HR" dirty="0"/>
              <a:t> </a:t>
            </a:r>
            <a:r>
              <a:rPr lang="hr-HR" dirty="0" err="1"/>
              <a:t>tell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</a:t>
            </a:r>
            <a:r>
              <a:rPr lang="hr-HR" dirty="0" err="1"/>
              <a:t>very</a:t>
            </a:r>
            <a:r>
              <a:rPr lang="hr-HR" dirty="0"/>
              <a:t> </a:t>
            </a:r>
            <a:r>
              <a:rPr lang="hr-HR" dirty="0" err="1"/>
              <a:t>much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human </a:t>
            </a:r>
            <a:r>
              <a:rPr lang="hr-HR" dirty="0" err="1"/>
              <a:t>experience</a:t>
            </a:r>
            <a:r>
              <a:rPr lang="hr-HR" dirty="0"/>
              <a:t>.</a:t>
            </a:r>
          </a:p>
          <a:p>
            <a:r>
              <a:rPr lang="hr-HR" dirty="0"/>
              <a:t>A </a:t>
            </a:r>
            <a:r>
              <a:rPr lang="hr-HR" dirty="0" err="1"/>
              <a:t>genuinely</a:t>
            </a:r>
            <a:r>
              <a:rPr lang="hr-HR" dirty="0"/>
              <a:t> 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perspective</a:t>
            </a:r>
            <a:r>
              <a:rPr lang="hr-HR" dirty="0"/>
              <a:t> </a:t>
            </a:r>
            <a:r>
              <a:rPr lang="hr-HR" dirty="0" err="1"/>
              <a:t>asks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.</a:t>
            </a:r>
          </a:p>
          <a:p>
            <a:r>
              <a:rPr lang="hr-HR" dirty="0" err="1"/>
              <a:t>What</a:t>
            </a:r>
            <a:r>
              <a:rPr lang="hr-HR" dirty="0"/>
              <a:t> do </a:t>
            </a:r>
            <a:r>
              <a:rPr lang="hr-HR" dirty="0" err="1"/>
              <a:t>people</a:t>
            </a:r>
            <a:r>
              <a:rPr lang="hr-HR" dirty="0"/>
              <a:t> </a:t>
            </a:r>
            <a:r>
              <a:rPr lang="hr-HR" dirty="0" err="1"/>
              <a:t>actually</a:t>
            </a:r>
            <a:r>
              <a:rPr lang="hr-HR" dirty="0"/>
              <a:t> </a:t>
            </a:r>
            <a:r>
              <a:rPr lang="hr-HR" dirty="0" err="1"/>
              <a:t>need</a:t>
            </a:r>
            <a:r>
              <a:rPr lang="hr-HR" dirty="0"/>
              <a:t>? How do </a:t>
            </a:r>
            <a:r>
              <a:rPr lang="hr-HR" dirty="0" err="1"/>
              <a:t>they</a:t>
            </a:r>
            <a:r>
              <a:rPr lang="hr-HR" dirty="0"/>
              <a:t> </a:t>
            </a:r>
            <a:r>
              <a:rPr lang="hr-HR" dirty="0" err="1"/>
              <a:t>experience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technology</a:t>
            </a:r>
            <a:r>
              <a:rPr lang="hr-HR" dirty="0"/>
              <a:t>? How </a:t>
            </a:r>
            <a:r>
              <a:rPr lang="hr-HR" dirty="0" err="1"/>
              <a:t>much</a:t>
            </a:r>
            <a:r>
              <a:rPr lang="hr-HR" dirty="0"/>
              <a:t> </a:t>
            </a:r>
            <a:r>
              <a:rPr lang="hr-HR" dirty="0" err="1"/>
              <a:t>agency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control</a:t>
            </a:r>
            <a:r>
              <a:rPr lang="hr-HR" dirty="0"/>
              <a:t> do </a:t>
            </a:r>
            <a:r>
              <a:rPr lang="hr-HR" dirty="0" err="1"/>
              <a:t>they</a:t>
            </a:r>
            <a:r>
              <a:rPr lang="hr-HR" dirty="0"/>
              <a:t> </a:t>
            </a:r>
            <a:r>
              <a:rPr lang="hr-HR" dirty="0" err="1"/>
              <a:t>retain</a:t>
            </a:r>
            <a:r>
              <a:rPr lang="hr-HR" dirty="0"/>
              <a:t>? </a:t>
            </a:r>
            <a:r>
              <a:rPr lang="hr-HR" dirty="0" err="1"/>
              <a:t>Does</a:t>
            </a:r>
            <a:r>
              <a:rPr lang="hr-HR" dirty="0"/>
              <a:t> AI </a:t>
            </a:r>
            <a:r>
              <a:rPr lang="hr-HR" dirty="0" err="1"/>
              <a:t>change</a:t>
            </a:r>
            <a:r>
              <a:rPr lang="hr-HR" dirty="0"/>
              <a:t> </a:t>
            </a:r>
            <a:r>
              <a:rPr lang="hr-HR" dirty="0" err="1"/>
              <a:t>their</a:t>
            </a:r>
            <a:r>
              <a:rPr lang="hr-HR" dirty="0"/>
              <a:t> </a:t>
            </a:r>
            <a:r>
              <a:rPr lang="hr-HR" dirty="0" err="1"/>
              <a:t>professional</a:t>
            </a:r>
            <a:r>
              <a:rPr lang="hr-HR" dirty="0"/>
              <a:t> role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established</a:t>
            </a:r>
            <a:r>
              <a:rPr lang="hr-HR" dirty="0"/>
              <a:t> </a:t>
            </a:r>
            <a:r>
              <a:rPr lang="hr-HR" dirty="0" err="1"/>
              <a:t>practices</a:t>
            </a:r>
            <a:r>
              <a:rPr lang="hr-HR" dirty="0"/>
              <a:t>? How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their</a:t>
            </a:r>
            <a:r>
              <a:rPr lang="hr-HR" dirty="0"/>
              <a:t> </a:t>
            </a:r>
            <a:r>
              <a:rPr lang="hr-HR" dirty="0" err="1"/>
              <a:t>relationship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technology</a:t>
            </a:r>
            <a:r>
              <a:rPr lang="hr-HR" dirty="0"/>
              <a:t> </a:t>
            </a:r>
            <a:r>
              <a:rPr lang="hr-HR" dirty="0" err="1"/>
              <a:t>evolve</a:t>
            </a:r>
            <a:r>
              <a:rPr lang="hr-HR" dirty="0"/>
              <a:t>?</a:t>
            </a:r>
          </a:p>
          <a:p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consider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question</a:t>
            </a:r>
            <a:r>
              <a:rPr lang="hr-HR" dirty="0"/>
              <a:t>: </a:t>
            </a: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value</a:t>
            </a:r>
            <a:r>
              <a:rPr lang="hr-HR" b="1" dirty="0"/>
              <a:t> </a:t>
            </a:r>
            <a:r>
              <a:rPr lang="hr-HR" b="1" dirty="0" err="1"/>
              <a:t>is</a:t>
            </a:r>
            <a:r>
              <a:rPr lang="hr-HR" b="1" dirty="0"/>
              <a:t> </a:t>
            </a:r>
            <a:r>
              <a:rPr lang="hr-HR" b="1" dirty="0" err="1"/>
              <a:t>created</a:t>
            </a:r>
            <a:r>
              <a:rPr lang="hr-HR" b="1" dirty="0"/>
              <a:t>?</a:t>
            </a:r>
            <a:endParaRPr lang="hr-HR" dirty="0"/>
          </a:p>
          <a:p>
            <a:r>
              <a:rPr lang="hr-HR" dirty="0"/>
              <a:t>A </a:t>
            </a:r>
            <a:r>
              <a:rPr lang="hr-HR" dirty="0" err="1"/>
              <a:t>very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</a:t>
            </a:r>
            <a:r>
              <a:rPr lang="hr-HR" dirty="0" err="1"/>
              <a:t>follow-up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: </a:t>
            </a:r>
            <a:r>
              <a:rPr lang="hr-HR" b="1" dirty="0" err="1"/>
              <a:t>value</a:t>
            </a:r>
            <a:r>
              <a:rPr lang="hr-HR" b="1" dirty="0"/>
              <a:t> for </a:t>
            </a:r>
            <a:r>
              <a:rPr lang="hr-HR" b="1" dirty="0" err="1"/>
              <a:t>whom</a:t>
            </a:r>
            <a:r>
              <a:rPr lang="hr-HR" b="1" dirty="0"/>
              <a:t>?</a:t>
            </a:r>
            <a:endParaRPr lang="hr-HR" dirty="0"/>
          </a:p>
          <a:p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stakeholders</a:t>
            </a:r>
            <a:r>
              <a:rPr lang="hr-HR" dirty="0"/>
              <a:t> </a:t>
            </a:r>
            <a:r>
              <a:rPr lang="hr-HR" dirty="0" err="1"/>
              <a:t>may</a:t>
            </a:r>
            <a:r>
              <a:rPr lang="hr-HR" dirty="0"/>
              <a:t> </a:t>
            </a:r>
            <a:r>
              <a:rPr lang="hr-HR" dirty="0" err="1"/>
              <a:t>experience</a:t>
            </a:r>
            <a:r>
              <a:rPr lang="hr-HR" dirty="0"/>
              <a:t> </a:t>
            </a:r>
            <a:r>
              <a:rPr lang="hr-HR" dirty="0" err="1"/>
              <a:t>benefits</a:t>
            </a:r>
            <a:r>
              <a:rPr lang="hr-HR" dirty="0"/>
              <a:t>, </a:t>
            </a:r>
            <a:r>
              <a:rPr lang="hr-HR" dirty="0" err="1"/>
              <a:t>costs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risks</a:t>
            </a:r>
            <a:r>
              <a:rPr lang="hr-HR" dirty="0"/>
              <a:t> </a:t>
            </a:r>
            <a:r>
              <a:rPr lang="hr-HR" dirty="0" err="1"/>
              <a:t>differently</a:t>
            </a:r>
            <a:r>
              <a:rPr lang="hr-HR" dirty="0"/>
              <a:t>.</a:t>
            </a:r>
          </a:p>
          <a:p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leads</a:t>
            </a:r>
            <a:r>
              <a:rPr lang="hr-HR" dirty="0"/>
              <a:t> to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open</a:t>
            </a:r>
            <a:r>
              <a:rPr lang="hr-HR" dirty="0"/>
              <a:t> </a:t>
            </a:r>
            <a:r>
              <a:rPr lang="hr-HR" dirty="0" err="1"/>
              <a:t>question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I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to </a:t>
            </a:r>
            <a:r>
              <a:rPr lang="hr-HR" dirty="0" err="1"/>
              <a:t>return</a:t>
            </a:r>
            <a:r>
              <a:rPr lang="hr-HR" dirty="0"/>
              <a:t> to </a:t>
            </a:r>
            <a:r>
              <a:rPr lang="hr-HR" dirty="0" err="1"/>
              <a:t>later</a:t>
            </a:r>
            <a:r>
              <a:rPr lang="hr-HR" dirty="0"/>
              <a:t>:</a:t>
            </a:r>
          </a:p>
          <a:p>
            <a:r>
              <a:rPr lang="hr-HR" b="1" dirty="0" err="1"/>
              <a:t>Should</a:t>
            </a:r>
            <a:r>
              <a:rPr lang="hr-HR" b="1" dirty="0"/>
              <a:t> human-</a:t>
            </a:r>
            <a:r>
              <a:rPr lang="hr-HR" b="1" dirty="0" err="1"/>
              <a:t>centeredness</a:t>
            </a:r>
            <a:r>
              <a:rPr lang="hr-HR" b="1" dirty="0"/>
              <a:t> </a:t>
            </a:r>
            <a:r>
              <a:rPr lang="hr-HR" b="1" dirty="0" err="1"/>
              <a:t>be</a:t>
            </a:r>
            <a:r>
              <a:rPr lang="hr-HR" b="1" dirty="0"/>
              <a:t> </a:t>
            </a:r>
            <a:r>
              <a:rPr lang="hr-HR" b="1" dirty="0" err="1"/>
              <a:t>represented</a:t>
            </a:r>
            <a:r>
              <a:rPr lang="hr-HR" b="1" dirty="0"/>
              <a:t> </a:t>
            </a:r>
            <a:r>
              <a:rPr lang="hr-HR" b="1" dirty="0" err="1"/>
              <a:t>primarily</a:t>
            </a:r>
            <a:r>
              <a:rPr lang="hr-HR" b="1" dirty="0"/>
              <a:t> </a:t>
            </a:r>
            <a:r>
              <a:rPr lang="hr-HR" b="1" dirty="0" err="1"/>
              <a:t>by</a:t>
            </a:r>
            <a:r>
              <a:rPr lang="hr-HR" b="1" dirty="0"/>
              <a:t> one Human </a:t>
            </a:r>
            <a:r>
              <a:rPr lang="hr-HR" b="1" dirty="0" err="1"/>
              <a:t>Interaction</a:t>
            </a:r>
            <a:r>
              <a:rPr lang="hr-HR" b="1" dirty="0"/>
              <a:t> </a:t>
            </a:r>
            <a:r>
              <a:rPr lang="hr-HR" b="1" dirty="0" err="1"/>
              <a:t>dimension</a:t>
            </a:r>
            <a:r>
              <a:rPr lang="hr-HR" b="1" dirty="0"/>
              <a:t>, </a:t>
            </a:r>
            <a:r>
              <a:rPr lang="hr-HR" b="1" dirty="0" err="1"/>
              <a:t>or</a:t>
            </a:r>
            <a:r>
              <a:rPr lang="hr-HR" b="1" dirty="0"/>
              <a:t> </a:t>
            </a:r>
            <a:r>
              <a:rPr lang="hr-HR" b="1" dirty="0" err="1"/>
              <a:t>should</a:t>
            </a:r>
            <a:r>
              <a:rPr lang="hr-HR" b="1" dirty="0"/>
              <a:t> </a:t>
            </a:r>
            <a:r>
              <a:rPr lang="hr-HR" b="1" dirty="0" err="1"/>
              <a:t>it</a:t>
            </a:r>
            <a:r>
              <a:rPr lang="hr-HR" b="1" dirty="0"/>
              <a:t> </a:t>
            </a:r>
            <a:r>
              <a:rPr lang="hr-HR" b="1" dirty="0" err="1"/>
              <a:t>be</a:t>
            </a:r>
            <a:r>
              <a:rPr lang="hr-HR" b="1" dirty="0"/>
              <a:t> a </a:t>
            </a:r>
            <a:r>
              <a:rPr lang="hr-HR" b="1" dirty="0" err="1"/>
              <a:t>lens</a:t>
            </a:r>
            <a:r>
              <a:rPr lang="hr-HR" b="1" dirty="0"/>
              <a:t> </a:t>
            </a:r>
            <a:r>
              <a:rPr lang="hr-HR" b="1" dirty="0" err="1"/>
              <a:t>through</a:t>
            </a:r>
            <a:r>
              <a:rPr lang="hr-HR" b="1" dirty="0"/>
              <a:t> </a:t>
            </a:r>
            <a:r>
              <a:rPr lang="hr-HR" b="1" dirty="0" err="1"/>
              <a:t>which</a:t>
            </a:r>
            <a:r>
              <a:rPr lang="hr-HR" b="1" dirty="0"/>
              <a:t> </a:t>
            </a:r>
            <a:r>
              <a:rPr lang="hr-HR" b="1" dirty="0" err="1"/>
              <a:t>we</a:t>
            </a:r>
            <a:r>
              <a:rPr lang="hr-HR" b="1" dirty="0"/>
              <a:t> </a:t>
            </a:r>
            <a:r>
              <a:rPr lang="hr-HR" b="1" dirty="0" err="1"/>
              <a:t>examine</a:t>
            </a:r>
            <a:r>
              <a:rPr lang="hr-HR" b="1" dirty="0"/>
              <a:t> </a:t>
            </a:r>
            <a:r>
              <a:rPr lang="hr-HR" b="1" dirty="0" err="1"/>
              <a:t>all</a:t>
            </a:r>
            <a:r>
              <a:rPr lang="hr-HR" b="1" dirty="0"/>
              <a:t> </a:t>
            </a:r>
            <a:r>
              <a:rPr lang="hr-HR" b="1" dirty="0" err="1"/>
              <a:t>nine</a:t>
            </a:r>
            <a:r>
              <a:rPr lang="hr-HR" b="1" dirty="0"/>
              <a:t> </a:t>
            </a:r>
            <a:r>
              <a:rPr lang="hr-HR" b="1" dirty="0" err="1"/>
              <a:t>dimensions</a:t>
            </a:r>
            <a:r>
              <a:rPr lang="hr-HR" b="1" dirty="0"/>
              <a:t>?</a:t>
            </a:r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88845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also</a:t>
            </a:r>
            <a:r>
              <a:rPr lang="hr-HR" dirty="0"/>
              <a:t> </a:t>
            </a:r>
            <a:r>
              <a:rPr lang="hr-HR" dirty="0" err="1"/>
              <a:t>explains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are </a:t>
            </a:r>
            <a:r>
              <a:rPr lang="hr-HR" dirty="0" err="1"/>
              <a:t>asking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today's</a:t>
            </a:r>
            <a:r>
              <a:rPr lang="hr-HR" dirty="0"/>
              <a:t> </a:t>
            </a:r>
            <a:r>
              <a:rPr lang="hr-HR" dirty="0" err="1"/>
              <a:t>presenters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all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as </a:t>
            </a:r>
            <a:r>
              <a:rPr lang="hr-HR" dirty="0" err="1"/>
              <a:t>participants</a:t>
            </a:r>
            <a:r>
              <a:rPr lang="hr-HR" dirty="0"/>
              <a:t>.</a:t>
            </a:r>
          </a:p>
          <a:p>
            <a:r>
              <a:rPr lang="hr-HR" dirty="0" err="1"/>
              <a:t>We</a:t>
            </a:r>
            <a:r>
              <a:rPr lang="hr-HR" dirty="0"/>
              <a:t> are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asking</a:t>
            </a:r>
            <a:r>
              <a:rPr lang="hr-HR" dirty="0"/>
              <a:t> </a:t>
            </a:r>
            <a:r>
              <a:rPr lang="hr-HR" dirty="0" err="1"/>
              <a:t>only</a:t>
            </a:r>
            <a:r>
              <a:rPr lang="hr-HR" dirty="0"/>
              <a:t> </a:t>
            </a:r>
            <a:r>
              <a:rPr lang="hr-HR" dirty="0" err="1"/>
              <a:t>whether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LLM </a:t>
            </a:r>
            <a:r>
              <a:rPr lang="hr-HR" dirty="0" err="1"/>
              <a:t>solution</a:t>
            </a:r>
            <a:r>
              <a:rPr lang="hr-HR" dirty="0"/>
              <a:t> </a:t>
            </a:r>
            <a:r>
              <a:rPr lang="hr-HR" dirty="0" err="1"/>
              <a:t>works</a:t>
            </a:r>
            <a:r>
              <a:rPr lang="hr-HR" dirty="0"/>
              <a:t> </a:t>
            </a:r>
            <a:r>
              <a:rPr lang="hr-HR" dirty="0" err="1"/>
              <a:t>technically</a:t>
            </a:r>
            <a:r>
              <a:rPr lang="hr-HR" dirty="0"/>
              <a:t>.</a:t>
            </a:r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want</a:t>
            </a:r>
            <a:r>
              <a:rPr lang="hr-HR" dirty="0"/>
              <a:t> to </a:t>
            </a:r>
            <a:r>
              <a:rPr lang="hr-HR" dirty="0" err="1"/>
              <a:t>look</a:t>
            </a:r>
            <a:r>
              <a:rPr lang="hr-HR" dirty="0"/>
              <a:t> </a:t>
            </a:r>
            <a:r>
              <a:rPr lang="hr-HR" dirty="0" err="1"/>
              <a:t>beyond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.</a:t>
            </a:r>
          </a:p>
          <a:p>
            <a:r>
              <a:rPr lang="hr-HR" dirty="0"/>
              <a:t>For </a:t>
            </a:r>
            <a:r>
              <a:rPr lang="hr-HR" dirty="0" err="1"/>
              <a:t>whom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work</a:t>
            </a:r>
            <a:r>
              <a:rPr lang="hr-HR" dirty="0"/>
              <a:t>? </a:t>
            </a:r>
            <a:r>
              <a:rPr lang="hr-HR" dirty="0" err="1"/>
              <a:t>Under</a:t>
            </a:r>
            <a:r>
              <a:rPr lang="hr-HR" dirty="0"/>
              <a:t>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?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changes</a:t>
            </a:r>
            <a:r>
              <a:rPr lang="hr-HR" dirty="0"/>
              <a:t> for </a:t>
            </a:r>
            <a:r>
              <a:rPr lang="hr-HR" dirty="0" err="1"/>
              <a:t>humans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organizations</a:t>
            </a:r>
            <a:r>
              <a:rPr lang="hr-HR" dirty="0"/>
              <a:t>?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limits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?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value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created</a:t>
            </a:r>
            <a:r>
              <a:rPr lang="hr-HR" dirty="0"/>
              <a:t>, </a:t>
            </a:r>
            <a:r>
              <a:rPr lang="hr-HR" dirty="0" err="1"/>
              <a:t>and</a:t>
            </a:r>
            <a:r>
              <a:rPr lang="hr-HR" dirty="0"/>
              <a:t> for </a:t>
            </a:r>
            <a:r>
              <a:rPr lang="hr-HR" dirty="0" err="1"/>
              <a:t>whom</a:t>
            </a:r>
            <a:r>
              <a:rPr lang="hr-HR" dirty="0"/>
              <a:t>?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lessons</a:t>
            </a:r>
            <a:r>
              <a:rPr lang="hr-HR" dirty="0"/>
              <a:t> </a:t>
            </a:r>
            <a:r>
              <a:rPr lang="hr-HR" dirty="0" err="1"/>
              <a:t>could</a:t>
            </a:r>
            <a:r>
              <a:rPr lang="hr-HR" dirty="0"/>
              <a:t> transfer to </a:t>
            </a:r>
            <a:r>
              <a:rPr lang="hr-HR" dirty="0" err="1"/>
              <a:t>another</a:t>
            </a:r>
            <a:r>
              <a:rPr lang="hr-HR" dirty="0"/>
              <a:t> </a:t>
            </a:r>
            <a:r>
              <a:rPr lang="hr-HR" dirty="0" err="1"/>
              <a:t>environment</a:t>
            </a:r>
            <a:r>
              <a:rPr lang="hr-HR" dirty="0"/>
              <a:t>?</a:t>
            </a:r>
          </a:p>
          <a:p>
            <a:r>
              <a:rPr lang="hr-HR" dirty="0" err="1"/>
              <a:t>Importantly</a:t>
            </a:r>
            <a:r>
              <a:rPr lang="hr-HR" dirty="0"/>
              <a:t>, </a:t>
            </a:r>
            <a:r>
              <a:rPr lang="hr-HR" dirty="0" err="1"/>
              <a:t>we</a:t>
            </a:r>
            <a:r>
              <a:rPr lang="hr-HR" dirty="0"/>
              <a:t> do </a:t>
            </a:r>
            <a:r>
              <a:rPr lang="hr-HR" b="1" dirty="0" err="1"/>
              <a:t>not</a:t>
            </a:r>
            <a:r>
              <a:rPr lang="hr-HR" dirty="0"/>
              <a:t> </a:t>
            </a:r>
            <a:r>
              <a:rPr lang="hr-HR" dirty="0" err="1"/>
              <a:t>expect</a:t>
            </a:r>
            <a:r>
              <a:rPr lang="hr-HR" dirty="0"/>
              <a:t> </a:t>
            </a:r>
            <a:r>
              <a:rPr lang="hr-HR" dirty="0" err="1"/>
              <a:t>every</a:t>
            </a:r>
            <a:r>
              <a:rPr lang="hr-HR" dirty="0"/>
              <a:t> </a:t>
            </a:r>
            <a:r>
              <a:rPr lang="hr-HR" dirty="0" err="1"/>
              <a:t>case</a:t>
            </a:r>
            <a:r>
              <a:rPr lang="hr-HR" dirty="0"/>
              <a:t> to </a:t>
            </a:r>
            <a:r>
              <a:rPr lang="hr-HR" dirty="0" err="1"/>
              <a:t>answer</a:t>
            </a:r>
            <a:r>
              <a:rPr lang="hr-HR" dirty="0"/>
              <a:t> </a:t>
            </a:r>
            <a:r>
              <a:rPr lang="hr-HR" dirty="0" err="1"/>
              <a:t>all</a:t>
            </a:r>
            <a:r>
              <a:rPr lang="hr-HR" dirty="0"/>
              <a:t> </a:t>
            </a:r>
            <a:r>
              <a:rPr lang="hr-HR" dirty="0" err="1"/>
              <a:t>nine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.</a:t>
            </a:r>
          </a:p>
          <a:p>
            <a:r>
              <a:rPr lang="hr-HR" dirty="0"/>
              <a:t>In </a:t>
            </a:r>
            <a:r>
              <a:rPr lang="hr-HR" dirty="0" err="1"/>
              <a:t>fact</a:t>
            </a:r>
            <a:r>
              <a:rPr lang="hr-HR" dirty="0"/>
              <a:t>, </a:t>
            </a:r>
            <a:r>
              <a:rPr lang="hr-HR" dirty="0" err="1"/>
              <a:t>if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</a:t>
            </a:r>
            <a:r>
              <a:rPr lang="hr-HR" dirty="0" err="1"/>
              <a:t>question</a:t>
            </a:r>
            <a:r>
              <a:rPr lang="hr-HR" dirty="0"/>
              <a:t> </a:t>
            </a:r>
            <a:r>
              <a:rPr lang="hr-HR" dirty="0" err="1"/>
              <a:t>cannot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answered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existing</a:t>
            </a:r>
            <a:r>
              <a:rPr lang="hr-HR" dirty="0"/>
              <a:t> </a:t>
            </a:r>
            <a:r>
              <a:rPr lang="hr-HR" dirty="0" err="1"/>
              <a:t>study</a:t>
            </a:r>
            <a:r>
              <a:rPr lang="hr-HR" dirty="0"/>
              <a:t>,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itself</a:t>
            </a:r>
            <a:r>
              <a:rPr lang="hr-HR" dirty="0"/>
              <a:t> </a:t>
            </a:r>
            <a:r>
              <a:rPr lang="hr-HR" dirty="0" err="1"/>
              <a:t>may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informative</a:t>
            </a:r>
            <a:r>
              <a:rPr lang="hr-HR" dirty="0"/>
              <a:t>.</a:t>
            </a:r>
          </a:p>
          <a:p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may</a:t>
            </a:r>
            <a:r>
              <a:rPr lang="hr-HR" dirty="0"/>
              <a:t> </a:t>
            </a:r>
            <a:r>
              <a:rPr lang="hr-HR" dirty="0" err="1"/>
              <a:t>tell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</a:t>
            </a:r>
            <a:r>
              <a:rPr lang="hr-HR" dirty="0" err="1"/>
              <a:t>something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current</a:t>
            </a:r>
            <a:r>
              <a:rPr lang="hr-HR" dirty="0"/>
              <a:t> </a:t>
            </a:r>
            <a:r>
              <a:rPr lang="hr-HR" dirty="0" err="1"/>
              <a:t>reporting</a:t>
            </a:r>
            <a:r>
              <a:rPr lang="hr-HR" dirty="0"/>
              <a:t> </a:t>
            </a:r>
            <a:r>
              <a:rPr lang="hr-HR" dirty="0" err="1"/>
              <a:t>practices</a:t>
            </a:r>
            <a:r>
              <a:rPr lang="hr-HR" dirty="0"/>
              <a:t> —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weaknesses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7904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6057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 tri rada imate 35 minuta. Ja bih dala </a:t>
            </a:r>
            <a:r>
              <a:rPr lang="hr-HR" b="1" dirty="0"/>
              <a:t>8 minuta svakome + 2–3 minute neposrednog pitanja</a:t>
            </a:r>
            <a:r>
              <a:rPr lang="hr-HR" dirty="0"/>
              <a:t>, a preostalo vrijeme čuvala za prijelaze. Nemoj dati 10+ minuta svakome jer će ti pojesti najvrjedniji dio radionice — </a:t>
            </a:r>
            <a:r>
              <a:rPr lang="hr-HR" dirty="0" err="1"/>
              <a:t>comparative</a:t>
            </a:r>
            <a:r>
              <a:rPr lang="hr-HR" dirty="0"/>
              <a:t> </a:t>
            </a:r>
            <a:r>
              <a:rPr lang="hr-HR" dirty="0" err="1"/>
              <a:t>discussion</a:t>
            </a:r>
            <a:r>
              <a:rPr lang="hr-HR" dirty="0"/>
              <a:t>.</a:t>
            </a:r>
            <a:endParaRPr lang="en-US" dirty="0"/>
          </a:p>
          <a:p>
            <a:endParaRPr lang="en-US" dirty="0"/>
          </a:p>
          <a:p>
            <a:r>
              <a:rPr lang="hr-HR" dirty="0" err="1"/>
              <a:t>We</a:t>
            </a:r>
            <a:r>
              <a:rPr lang="hr-HR" dirty="0"/>
              <a:t> are </a:t>
            </a:r>
            <a:r>
              <a:rPr lang="hr-HR" dirty="0" err="1"/>
              <a:t>fortunate</a:t>
            </a:r>
            <a:r>
              <a:rPr lang="hr-HR" dirty="0"/>
              <a:t> to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rather</a:t>
            </a:r>
            <a:r>
              <a:rPr lang="hr-HR" dirty="0"/>
              <a:t> </a:t>
            </a:r>
            <a:r>
              <a:rPr lang="hr-HR" dirty="0" err="1"/>
              <a:t>different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 </a:t>
            </a:r>
            <a:r>
              <a:rPr lang="hr-HR" dirty="0" err="1"/>
              <a:t>today</a:t>
            </a:r>
            <a:r>
              <a:rPr lang="hr-HR" dirty="0"/>
              <a:t>.</a:t>
            </a:r>
          </a:p>
          <a:p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first</a:t>
            </a:r>
            <a:r>
              <a:rPr lang="hr-HR" dirty="0"/>
              <a:t> </a:t>
            </a:r>
            <a:r>
              <a:rPr lang="hr-HR" dirty="0" err="1"/>
              <a:t>comes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industrial</a:t>
            </a:r>
            <a:r>
              <a:rPr lang="hr-HR" dirty="0"/>
              <a:t> </a:t>
            </a:r>
            <a:r>
              <a:rPr lang="hr-HR" dirty="0" err="1"/>
              <a:t>cybersecurity</a:t>
            </a:r>
            <a:r>
              <a:rPr lang="hr-HR" dirty="0"/>
              <a:t> </a:t>
            </a:r>
            <a:r>
              <a:rPr lang="hr-HR" dirty="0" err="1"/>
              <a:t>context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explores</a:t>
            </a:r>
            <a:r>
              <a:rPr lang="hr-HR" dirty="0"/>
              <a:t> </a:t>
            </a:r>
            <a:r>
              <a:rPr lang="hr-HR" dirty="0" err="1"/>
              <a:t>local</a:t>
            </a:r>
            <a:r>
              <a:rPr lang="hr-HR" dirty="0"/>
              <a:t> </a:t>
            </a:r>
            <a:r>
              <a:rPr lang="hr-HR" dirty="0" err="1"/>
              <a:t>LLMs</a:t>
            </a:r>
            <a:r>
              <a:rPr lang="hr-HR" dirty="0"/>
              <a:t> for </a:t>
            </a:r>
            <a:r>
              <a:rPr lang="hr-HR" dirty="0" err="1"/>
              <a:t>security</a:t>
            </a:r>
            <a:r>
              <a:rPr lang="hr-HR" dirty="0"/>
              <a:t> </a:t>
            </a:r>
            <a:r>
              <a:rPr lang="hr-HR" dirty="0" err="1"/>
              <a:t>anomaly</a:t>
            </a:r>
            <a:r>
              <a:rPr lang="hr-HR" dirty="0"/>
              <a:t> </a:t>
            </a:r>
            <a:r>
              <a:rPr lang="hr-HR" dirty="0" err="1"/>
              <a:t>detection</a:t>
            </a:r>
            <a:r>
              <a:rPr lang="hr-HR" dirty="0"/>
              <a:t>.</a:t>
            </a:r>
          </a:p>
          <a:p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second</a:t>
            </a:r>
            <a:r>
              <a:rPr lang="hr-HR" dirty="0"/>
              <a:t> </a:t>
            </a:r>
            <a:r>
              <a:rPr lang="hr-HR" dirty="0" err="1"/>
              <a:t>looks</a:t>
            </a:r>
            <a:r>
              <a:rPr lang="hr-HR" dirty="0"/>
              <a:t> at </a:t>
            </a:r>
            <a:r>
              <a:rPr lang="hr-HR" dirty="0" err="1"/>
              <a:t>infrastructure</a:t>
            </a:r>
            <a:r>
              <a:rPr lang="hr-HR" dirty="0"/>
              <a:t> for </a:t>
            </a:r>
            <a:r>
              <a:rPr lang="hr-HR" dirty="0" err="1"/>
              <a:t>Edge</a:t>
            </a:r>
            <a:r>
              <a:rPr lang="hr-HR" dirty="0"/>
              <a:t> LLM </a:t>
            </a:r>
            <a:r>
              <a:rPr lang="hr-HR" dirty="0" err="1"/>
              <a:t>inference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dynamic</a:t>
            </a:r>
            <a:r>
              <a:rPr lang="hr-HR" dirty="0"/>
              <a:t> </a:t>
            </a:r>
            <a:r>
              <a:rPr lang="hr-HR" dirty="0" err="1"/>
              <a:t>precision</a:t>
            </a:r>
            <a:r>
              <a:rPr lang="hr-HR" dirty="0"/>
              <a:t> </a:t>
            </a:r>
            <a:r>
              <a:rPr lang="hr-HR" dirty="0" err="1"/>
              <a:t>orchestration</a:t>
            </a:r>
            <a:r>
              <a:rPr lang="hr-HR" dirty="0"/>
              <a:t>.</a:t>
            </a:r>
          </a:p>
          <a:p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third</a:t>
            </a:r>
            <a:r>
              <a:rPr lang="hr-HR" dirty="0"/>
              <a:t> </a:t>
            </a:r>
            <a:r>
              <a:rPr lang="hr-HR" dirty="0" err="1"/>
              <a:t>considers</a:t>
            </a:r>
            <a:r>
              <a:rPr lang="hr-HR" dirty="0"/>
              <a:t> LLM-</a:t>
            </a:r>
            <a:r>
              <a:rPr lang="hr-HR" dirty="0" err="1"/>
              <a:t>enabled</a:t>
            </a:r>
            <a:r>
              <a:rPr lang="hr-HR" dirty="0"/>
              <a:t> network management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reliability</a:t>
            </a:r>
            <a:r>
              <a:rPr lang="hr-HR" dirty="0"/>
              <a:t>.</a:t>
            </a:r>
          </a:p>
          <a:p>
            <a:r>
              <a:rPr lang="hr-HR" dirty="0" err="1"/>
              <a:t>So</a:t>
            </a:r>
            <a:r>
              <a:rPr lang="hr-HR" dirty="0"/>
              <a:t> </a:t>
            </a:r>
            <a:r>
              <a:rPr lang="hr-HR" dirty="0" err="1"/>
              <a:t>while</a:t>
            </a:r>
            <a:r>
              <a:rPr lang="hr-HR" dirty="0"/>
              <a:t> </a:t>
            </a:r>
            <a:r>
              <a:rPr lang="hr-HR" dirty="0" err="1"/>
              <a:t>listening</a:t>
            </a:r>
            <a:r>
              <a:rPr lang="hr-HR" dirty="0"/>
              <a:t>, I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to </a:t>
            </a:r>
            <a:r>
              <a:rPr lang="hr-HR" dirty="0" err="1"/>
              <a:t>keep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mind</a:t>
            </a:r>
            <a:r>
              <a:rPr lang="hr-HR" dirty="0"/>
              <a:t>:</a:t>
            </a:r>
          </a:p>
          <a:p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appears</a:t>
            </a:r>
            <a:r>
              <a:rPr lang="hr-HR" b="1" dirty="0"/>
              <a:t> </a:t>
            </a:r>
            <a:r>
              <a:rPr lang="hr-HR" b="1" dirty="0" err="1"/>
              <a:t>common</a:t>
            </a:r>
            <a:r>
              <a:rPr lang="hr-HR" b="1" dirty="0"/>
              <a:t> </a:t>
            </a:r>
            <a:r>
              <a:rPr lang="hr-HR" b="1" dirty="0" err="1"/>
              <a:t>across</a:t>
            </a:r>
            <a:r>
              <a:rPr lang="hr-HR" b="1" dirty="0"/>
              <a:t> </a:t>
            </a:r>
            <a:r>
              <a:rPr lang="hr-HR" b="1" dirty="0" err="1"/>
              <a:t>these</a:t>
            </a:r>
            <a:r>
              <a:rPr lang="hr-HR" b="1" dirty="0"/>
              <a:t> </a:t>
            </a:r>
            <a:r>
              <a:rPr lang="hr-HR" b="1" dirty="0" err="1"/>
              <a:t>cases</a:t>
            </a:r>
            <a:r>
              <a:rPr lang="hr-HR" b="1" dirty="0"/>
              <a:t>?</a:t>
            </a:r>
            <a:endParaRPr lang="hr-HR" dirty="0"/>
          </a:p>
          <a:p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is</a:t>
            </a:r>
            <a:r>
              <a:rPr lang="hr-HR" b="1" dirty="0"/>
              <a:t> </a:t>
            </a:r>
            <a:r>
              <a:rPr lang="hr-HR" b="1" dirty="0" err="1"/>
              <a:t>clearly</a:t>
            </a:r>
            <a:r>
              <a:rPr lang="hr-HR" b="1" dirty="0"/>
              <a:t> </a:t>
            </a:r>
            <a:r>
              <a:rPr lang="hr-HR" b="1" dirty="0" err="1"/>
              <a:t>context-specific</a:t>
            </a:r>
            <a:r>
              <a:rPr lang="hr-HR" b="1" dirty="0"/>
              <a:t>?</a:t>
            </a:r>
            <a:endParaRPr lang="hr-HR" dirty="0"/>
          </a:p>
          <a:p>
            <a:r>
              <a:rPr lang="hr-HR" dirty="0" err="1"/>
              <a:t>And</a:t>
            </a:r>
            <a:r>
              <a:rPr lang="hr-HR" dirty="0"/>
              <a:t>:</a:t>
            </a:r>
          </a:p>
          <a:p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seems</a:t>
            </a:r>
            <a:r>
              <a:rPr lang="hr-HR" b="1" dirty="0"/>
              <a:t> </a:t>
            </a:r>
            <a:r>
              <a:rPr lang="hr-HR" b="1" dirty="0" err="1"/>
              <a:t>important</a:t>
            </a:r>
            <a:r>
              <a:rPr lang="hr-HR" b="1" dirty="0"/>
              <a:t> but </a:t>
            </a:r>
            <a:r>
              <a:rPr lang="hr-HR" b="1" dirty="0" err="1"/>
              <a:t>is</a:t>
            </a:r>
            <a:r>
              <a:rPr lang="hr-HR" b="1" dirty="0"/>
              <a:t> </a:t>
            </a:r>
            <a:r>
              <a:rPr lang="hr-HR" b="1" dirty="0" err="1"/>
              <a:t>not</a:t>
            </a:r>
            <a:r>
              <a:rPr lang="hr-HR" b="1" dirty="0"/>
              <a:t> </a:t>
            </a:r>
            <a:r>
              <a:rPr lang="hr-HR" b="1" dirty="0" err="1"/>
              <a:t>captured</a:t>
            </a:r>
            <a:r>
              <a:rPr lang="hr-HR" b="1" dirty="0"/>
              <a:t> </a:t>
            </a:r>
            <a:r>
              <a:rPr lang="hr-HR" b="1" dirty="0" err="1"/>
              <a:t>by</a:t>
            </a:r>
            <a:r>
              <a:rPr lang="hr-HR" b="1" dirty="0"/>
              <a:t> </a:t>
            </a:r>
            <a:r>
              <a:rPr lang="hr-HR" b="1" dirty="0" err="1"/>
              <a:t>our</a:t>
            </a:r>
            <a:r>
              <a:rPr lang="hr-HR" b="1" dirty="0"/>
              <a:t> </a:t>
            </a:r>
            <a:r>
              <a:rPr lang="hr-HR" b="1" dirty="0" err="1"/>
              <a:t>nine</a:t>
            </a:r>
            <a:r>
              <a:rPr lang="hr-HR" b="1" dirty="0"/>
              <a:t> </a:t>
            </a:r>
            <a:r>
              <a:rPr lang="hr-HR" b="1" dirty="0" err="1"/>
              <a:t>questions</a:t>
            </a:r>
            <a:r>
              <a:rPr lang="hr-HR" b="1" dirty="0"/>
              <a:t>?</a:t>
            </a:r>
            <a:endParaRPr lang="hr-HR" dirty="0"/>
          </a:p>
          <a:p>
            <a:r>
              <a:rPr lang="hr-HR" dirty="0"/>
              <a:t>I </a:t>
            </a:r>
            <a:r>
              <a:rPr lang="hr-HR" dirty="0" err="1"/>
              <a:t>will</a:t>
            </a:r>
            <a:r>
              <a:rPr lang="hr-HR" dirty="0"/>
              <a:t> </a:t>
            </a:r>
            <a:r>
              <a:rPr lang="hr-HR" dirty="0" err="1"/>
              <a:t>now</a:t>
            </a:r>
            <a:r>
              <a:rPr lang="hr-HR" dirty="0"/>
              <a:t> </a:t>
            </a:r>
            <a:r>
              <a:rPr lang="hr-HR" dirty="0" err="1"/>
              <a:t>hand</a:t>
            </a:r>
            <a:r>
              <a:rPr lang="hr-HR" dirty="0"/>
              <a:t> </a:t>
            </a:r>
            <a:r>
              <a:rPr lang="hr-HR" dirty="0" err="1"/>
              <a:t>over</a:t>
            </a:r>
            <a:r>
              <a:rPr lang="hr-HR" dirty="0"/>
              <a:t> to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first</a:t>
            </a:r>
            <a:r>
              <a:rPr lang="hr-HR" dirty="0"/>
              <a:t> </a:t>
            </a:r>
            <a:r>
              <a:rPr lang="hr-HR" dirty="0" err="1"/>
              <a:t>presenter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6423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Thank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</a:t>
            </a:r>
            <a:r>
              <a:rPr lang="hr-HR" dirty="0" err="1"/>
              <a:t>very</a:t>
            </a:r>
            <a:r>
              <a:rPr lang="hr-HR" dirty="0"/>
              <a:t> </a:t>
            </a:r>
            <a:r>
              <a:rPr lang="hr-HR" dirty="0" err="1"/>
              <a:t>much</a:t>
            </a:r>
            <a:r>
              <a:rPr lang="hr-HR" dirty="0"/>
              <a:t> to </a:t>
            </a:r>
            <a:r>
              <a:rPr lang="hr-HR" dirty="0" err="1"/>
              <a:t>all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presenters</a:t>
            </a:r>
            <a:r>
              <a:rPr lang="hr-HR" dirty="0"/>
              <a:t>.</a:t>
            </a:r>
          </a:p>
          <a:p>
            <a:r>
              <a:rPr lang="hr-HR" dirty="0" err="1"/>
              <a:t>Before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start </a:t>
            </a:r>
            <a:r>
              <a:rPr lang="hr-HR" dirty="0" err="1"/>
              <a:t>discussing</a:t>
            </a:r>
            <a:r>
              <a:rPr lang="hr-HR" dirty="0"/>
              <a:t> </a:t>
            </a:r>
            <a:r>
              <a:rPr lang="hr-HR" dirty="0" err="1"/>
              <a:t>collectively</a:t>
            </a:r>
            <a:r>
              <a:rPr lang="hr-HR" dirty="0"/>
              <a:t>, I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</a:t>
            </a:r>
            <a:r>
              <a:rPr lang="hr-HR" dirty="0" err="1"/>
              <a:t>everyone</a:t>
            </a:r>
            <a:r>
              <a:rPr lang="hr-HR" dirty="0"/>
              <a:t> to </a:t>
            </a:r>
            <a:r>
              <a:rPr lang="hr-HR" dirty="0" err="1"/>
              <a:t>reflect</a:t>
            </a:r>
            <a:r>
              <a:rPr lang="hr-HR" dirty="0"/>
              <a:t> </a:t>
            </a:r>
            <a:r>
              <a:rPr lang="hr-HR" dirty="0" err="1"/>
              <a:t>individually</a:t>
            </a:r>
            <a:r>
              <a:rPr lang="hr-HR" dirty="0"/>
              <a:t> for a </a:t>
            </a:r>
            <a:r>
              <a:rPr lang="hr-HR" dirty="0" err="1"/>
              <a:t>few</a:t>
            </a:r>
            <a:r>
              <a:rPr lang="hr-HR" dirty="0"/>
              <a:t> </a:t>
            </a:r>
            <a:r>
              <a:rPr lang="hr-HR" dirty="0" err="1"/>
              <a:t>minutes</a:t>
            </a:r>
            <a:r>
              <a:rPr lang="hr-HR" dirty="0"/>
              <a:t>.</a:t>
            </a:r>
          </a:p>
          <a:p>
            <a:r>
              <a:rPr lang="hr-HR" dirty="0" err="1"/>
              <a:t>Please</a:t>
            </a:r>
            <a:r>
              <a:rPr lang="hr-HR" dirty="0"/>
              <a:t> </a:t>
            </a:r>
            <a:r>
              <a:rPr lang="hr-HR" dirty="0" err="1"/>
              <a:t>open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reflection</a:t>
            </a:r>
            <a:r>
              <a:rPr lang="hr-HR" dirty="0"/>
              <a:t> </a:t>
            </a:r>
            <a:r>
              <a:rPr lang="hr-HR" dirty="0" err="1"/>
              <a:t>form</a:t>
            </a:r>
            <a:r>
              <a:rPr lang="hr-HR" dirty="0"/>
              <a:t>.</a:t>
            </a:r>
          </a:p>
          <a:p>
            <a:r>
              <a:rPr lang="hr-HR" dirty="0" err="1"/>
              <a:t>If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your</a:t>
            </a:r>
            <a:r>
              <a:rPr lang="hr-HR" dirty="0"/>
              <a:t> </a:t>
            </a:r>
            <a:r>
              <a:rPr lang="hr-HR" dirty="0" err="1"/>
              <a:t>own</a:t>
            </a:r>
            <a:r>
              <a:rPr lang="hr-HR" dirty="0"/>
              <a:t> LLM </a:t>
            </a:r>
            <a:r>
              <a:rPr lang="hr-HR" dirty="0" err="1"/>
              <a:t>application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research</a:t>
            </a:r>
            <a:r>
              <a:rPr lang="hr-HR" dirty="0"/>
              <a:t> </a:t>
            </a:r>
            <a:r>
              <a:rPr lang="hr-HR" dirty="0" err="1"/>
              <a:t>case</a:t>
            </a:r>
            <a:r>
              <a:rPr lang="hr-HR" dirty="0"/>
              <a:t>, </a:t>
            </a:r>
            <a:r>
              <a:rPr lang="hr-HR" dirty="0" err="1"/>
              <a:t>you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reflect</a:t>
            </a:r>
            <a:r>
              <a:rPr lang="hr-HR" dirty="0"/>
              <a:t> on </a:t>
            </a:r>
            <a:r>
              <a:rPr lang="hr-HR" dirty="0" err="1"/>
              <a:t>that</a:t>
            </a:r>
            <a:r>
              <a:rPr lang="hr-HR" dirty="0"/>
              <a:t>. </a:t>
            </a:r>
            <a:r>
              <a:rPr lang="hr-HR" dirty="0" err="1"/>
              <a:t>Otherwise</a:t>
            </a:r>
            <a:r>
              <a:rPr lang="hr-HR" dirty="0"/>
              <a:t>, </a:t>
            </a:r>
            <a:r>
              <a:rPr lang="hr-HR" dirty="0" err="1"/>
              <a:t>choose</a:t>
            </a:r>
            <a:r>
              <a:rPr lang="hr-HR" dirty="0"/>
              <a:t> one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just</a:t>
            </a:r>
            <a:r>
              <a:rPr lang="hr-HR" dirty="0"/>
              <a:t> </a:t>
            </a:r>
            <a:r>
              <a:rPr lang="hr-HR" dirty="0" err="1"/>
              <a:t>heard</a:t>
            </a:r>
            <a:r>
              <a:rPr lang="hr-HR" dirty="0"/>
              <a:t>.</a:t>
            </a:r>
          </a:p>
          <a:p>
            <a:r>
              <a:rPr lang="hr-HR" dirty="0"/>
              <a:t>Use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nine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 to </a:t>
            </a:r>
            <a:r>
              <a:rPr lang="hr-HR" dirty="0" err="1"/>
              <a:t>analyse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case</a:t>
            </a:r>
            <a:r>
              <a:rPr lang="hr-HR" dirty="0"/>
              <a:t>.</a:t>
            </a:r>
          </a:p>
          <a:p>
            <a:r>
              <a:rPr lang="hr-HR" dirty="0"/>
              <a:t>But </a:t>
            </a:r>
            <a:r>
              <a:rPr lang="hr-HR" dirty="0" err="1"/>
              <a:t>please</a:t>
            </a:r>
            <a:r>
              <a:rPr lang="hr-HR" dirty="0"/>
              <a:t> do </a:t>
            </a:r>
            <a:r>
              <a:rPr lang="hr-HR" dirty="0" err="1"/>
              <a:t>something</a:t>
            </a:r>
            <a:r>
              <a:rPr lang="hr-HR" dirty="0"/>
              <a:t> </a:t>
            </a:r>
            <a:r>
              <a:rPr lang="hr-HR" dirty="0" err="1"/>
              <a:t>equally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: </a:t>
            </a:r>
            <a:r>
              <a:rPr lang="hr-HR" b="1" dirty="0" err="1"/>
              <a:t>challenge</a:t>
            </a:r>
            <a:r>
              <a:rPr lang="hr-HR" b="1" dirty="0"/>
              <a:t> </a:t>
            </a:r>
            <a:r>
              <a:rPr lang="hr-HR" b="1" dirty="0" err="1"/>
              <a:t>the</a:t>
            </a:r>
            <a:r>
              <a:rPr lang="hr-HR" b="1" dirty="0"/>
              <a:t> </a:t>
            </a:r>
            <a:r>
              <a:rPr lang="hr-HR" b="1" dirty="0" err="1"/>
              <a:t>questions</a:t>
            </a:r>
            <a:r>
              <a:rPr lang="hr-HR" b="1" dirty="0"/>
              <a:t> </a:t>
            </a:r>
            <a:r>
              <a:rPr lang="hr-HR" b="1" dirty="0" err="1"/>
              <a:t>themselves</a:t>
            </a:r>
            <a:r>
              <a:rPr lang="hr-HR" b="1" dirty="0"/>
              <a:t>.</a:t>
            </a:r>
            <a:endParaRPr lang="hr-HR" dirty="0"/>
          </a:p>
          <a:p>
            <a:r>
              <a:rPr lang="hr-HR" dirty="0" err="1"/>
              <a:t>If</a:t>
            </a:r>
            <a:r>
              <a:rPr lang="hr-HR" dirty="0"/>
              <a:t> </a:t>
            </a:r>
            <a:r>
              <a:rPr lang="hr-HR" dirty="0" err="1"/>
              <a:t>something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unclear</a:t>
            </a:r>
            <a:r>
              <a:rPr lang="hr-HR" dirty="0"/>
              <a:t>, </a:t>
            </a:r>
            <a:r>
              <a:rPr lang="hr-HR" dirty="0" err="1"/>
              <a:t>too</a:t>
            </a:r>
            <a:r>
              <a:rPr lang="hr-HR" dirty="0"/>
              <a:t> </a:t>
            </a:r>
            <a:r>
              <a:rPr lang="hr-HR" dirty="0" err="1"/>
              <a:t>broad</a:t>
            </a:r>
            <a:r>
              <a:rPr lang="hr-HR" dirty="0"/>
              <a:t>, </a:t>
            </a:r>
            <a:r>
              <a:rPr lang="hr-HR" dirty="0" err="1"/>
              <a:t>irrelevant</a:t>
            </a:r>
            <a:r>
              <a:rPr lang="hr-HR" dirty="0"/>
              <a:t>,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missing</a:t>
            </a:r>
            <a:r>
              <a:rPr lang="hr-HR" dirty="0"/>
              <a:t>, </a:t>
            </a:r>
            <a:r>
              <a:rPr lang="hr-HR" dirty="0" err="1"/>
              <a:t>tell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.</a:t>
            </a:r>
          </a:p>
          <a:p>
            <a:r>
              <a:rPr lang="hr-HR" dirty="0" err="1"/>
              <a:t>There</a:t>
            </a:r>
            <a:r>
              <a:rPr lang="hr-HR" dirty="0"/>
              <a:t> are no </a:t>
            </a:r>
            <a:r>
              <a:rPr lang="hr-HR" dirty="0" err="1"/>
              <a:t>correct</a:t>
            </a:r>
            <a:r>
              <a:rPr lang="hr-HR" dirty="0"/>
              <a:t> </a:t>
            </a:r>
            <a:r>
              <a:rPr lang="hr-HR" dirty="0" err="1"/>
              <a:t>answers</a:t>
            </a:r>
            <a:r>
              <a:rPr lang="hr-HR" dirty="0"/>
              <a:t> </a:t>
            </a:r>
            <a:r>
              <a:rPr lang="hr-HR" dirty="0" err="1"/>
              <a:t>here</a:t>
            </a:r>
            <a:r>
              <a:rPr lang="hr-HR" dirty="0"/>
              <a:t>. </a:t>
            </a:r>
            <a:r>
              <a:rPr lang="hr-HR" dirty="0" err="1"/>
              <a:t>We</a:t>
            </a:r>
            <a:r>
              <a:rPr lang="hr-HR" dirty="0"/>
              <a:t> are </a:t>
            </a:r>
            <a:r>
              <a:rPr lang="hr-HR" dirty="0" err="1"/>
              <a:t>interested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your</a:t>
            </a:r>
            <a:r>
              <a:rPr lang="hr-HR" dirty="0"/>
              <a:t> </a:t>
            </a:r>
            <a:r>
              <a:rPr lang="hr-HR" dirty="0" err="1"/>
              <a:t>interpretation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74487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In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final</a:t>
            </a:r>
            <a:r>
              <a:rPr lang="hr-HR" dirty="0"/>
              <a:t> </a:t>
            </a:r>
            <a:r>
              <a:rPr lang="hr-HR" dirty="0" err="1"/>
              <a:t>part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reflection</a:t>
            </a:r>
            <a:r>
              <a:rPr lang="hr-HR" dirty="0"/>
              <a:t> </a:t>
            </a:r>
            <a:r>
              <a:rPr lang="hr-HR" dirty="0" err="1"/>
              <a:t>form</a:t>
            </a:r>
            <a:r>
              <a:rPr lang="hr-HR" dirty="0"/>
              <a:t>,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therefore</a:t>
            </a:r>
            <a:r>
              <a:rPr lang="hr-HR" dirty="0"/>
              <a:t> </a:t>
            </a:r>
            <a:r>
              <a:rPr lang="hr-HR" dirty="0" err="1"/>
              <a:t>turn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analytical</a:t>
            </a:r>
            <a:r>
              <a:rPr lang="hr-HR" dirty="0"/>
              <a:t> </a:t>
            </a:r>
            <a:r>
              <a:rPr lang="hr-HR" dirty="0" err="1"/>
              <a:t>lens</a:t>
            </a:r>
            <a:r>
              <a:rPr lang="hr-HR" dirty="0"/>
              <a:t> </a:t>
            </a:r>
            <a:r>
              <a:rPr lang="hr-HR" dirty="0" err="1"/>
              <a:t>back</a:t>
            </a:r>
            <a:r>
              <a:rPr lang="hr-HR" dirty="0"/>
              <a:t> </a:t>
            </a:r>
            <a:r>
              <a:rPr lang="hr-HR" dirty="0" err="1"/>
              <a:t>onto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</a:t>
            </a:r>
            <a:r>
              <a:rPr lang="hr-HR" dirty="0" err="1"/>
              <a:t>itself</a:t>
            </a:r>
            <a:r>
              <a:rPr lang="hr-HR" dirty="0"/>
              <a:t>.</a:t>
            </a:r>
          </a:p>
          <a:p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sufficiently</a:t>
            </a:r>
            <a:r>
              <a:rPr lang="hr-HR" dirty="0"/>
              <a:t> </a:t>
            </a:r>
            <a:r>
              <a:rPr lang="hr-HR" dirty="0" err="1"/>
              <a:t>capture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human </a:t>
            </a:r>
            <a:r>
              <a:rPr lang="hr-HR" dirty="0" err="1"/>
              <a:t>perspective</a:t>
            </a:r>
            <a:r>
              <a:rPr lang="hr-HR" dirty="0"/>
              <a:t>?</a:t>
            </a:r>
          </a:p>
          <a:p>
            <a:r>
              <a:rPr lang="hr-HR" dirty="0"/>
              <a:t>Are some </a:t>
            </a:r>
            <a:r>
              <a:rPr lang="hr-HR" dirty="0" err="1"/>
              <a:t>questions</a:t>
            </a:r>
            <a:r>
              <a:rPr lang="hr-HR" dirty="0"/>
              <a:t> </a:t>
            </a:r>
            <a:r>
              <a:rPr lang="hr-HR" dirty="0" err="1"/>
              <a:t>too</a:t>
            </a:r>
            <a:r>
              <a:rPr lang="hr-HR" dirty="0"/>
              <a:t> </a:t>
            </a:r>
            <a:r>
              <a:rPr lang="hr-HR" dirty="0" err="1"/>
              <a:t>broad</a:t>
            </a:r>
            <a:r>
              <a:rPr lang="hr-HR" dirty="0"/>
              <a:t> to </a:t>
            </a:r>
            <a:r>
              <a:rPr lang="hr-HR" dirty="0" err="1"/>
              <a:t>generate</a:t>
            </a:r>
            <a:r>
              <a:rPr lang="hr-HR" dirty="0"/>
              <a:t> </a:t>
            </a:r>
            <a:r>
              <a:rPr lang="hr-HR" dirty="0" err="1"/>
              <a:t>comparable</a:t>
            </a:r>
            <a:r>
              <a:rPr lang="hr-HR" dirty="0"/>
              <a:t> </a:t>
            </a:r>
            <a:r>
              <a:rPr lang="hr-HR" dirty="0" err="1"/>
              <a:t>evidence</a:t>
            </a:r>
            <a:r>
              <a:rPr lang="hr-HR" dirty="0"/>
              <a:t>?</a:t>
            </a:r>
          </a:p>
          <a:p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something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</a:t>
            </a:r>
            <a:r>
              <a:rPr lang="hr-HR" dirty="0" err="1"/>
              <a:t>completely</a:t>
            </a:r>
            <a:r>
              <a:rPr lang="hr-HR" dirty="0"/>
              <a:t> </a:t>
            </a:r>
            <a:r>
              <a:rPr lang="hr-HR" dirty="0" err="1"/>
              <a:t>absent</a:t>
            </a:r>
            <a:r>
              <a:rPr lang="hr-HR" dirty="0"/>
              <a:t>?</a:t>
            </a:r>
          </a:p>
          <a:p>
            <a:r>
              <a:rPr lang="hr-HR" dirty="0" err="1"/>
              <a:t>Please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critical</a:t>
            </a:r>
            <a:r>
              <a:rPr lang="hr-HR" dirty="0"/>
              <a:t>.</a:t>
            </a:r>
          </a:p>
          <a:p>
            <a:r>
              <a:rPr lang="hr-HR" dirty="0" err="1"/>
              <a:t>Finding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work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some </a:t>
            </a:r>
            <a:r>
              <a:rPr lang="hr-HR" dirty="0" err="1"/>
              <a:t>respect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at </a:t>
            </a:r>
            <a:r>
              <a:rPr lang="hr-HR" dirty="0" err="1"/>
              <a:t>least</a:t>
            </a:r>
            <a:r>
              <a:rPr lang="hr-HR" dirty="0"/>
              <a:t> as </a:t>
            </a:r>
            <a:r>
              <a:rPr lang="hr-HR" dirty="0" err="1"/>
              <a:t>useful</a:t>
            </a:r>
            <a:r>
              <a:rPr lang="hr-HR" dirty="0"/>
              <a:t> to </a:t>
            </a:r>
            <a:r>
              <a:rPr lang="hr-HR" dirty="0" err="1"/>
              <a:t>us</a:t>
            </a:r>
            <a:r>
              <a:rPr lang="hr-HR" dirty="0"/>
              <a:t> as </a:t>
            </a:r>
            <a:r>
              <a:rPr lang="hr-HR" dirty="0" err="1"/>
              <a:t>finding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4392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Let </a:t>
            </a:r>
            <a:r>
              <a:rPr lang="hr-HR" dirty="0" err="1"/>
              <a:t>us</a:t>
            </a:r>
            <a:r>
              <a:rPr lang="hr-HR" dirty="0"/>
              <a:t> </a:t>
            </a:r>
            <a:r>
              <a:rPr lang="hr-HR" dirty="0" err="1"/>
              <a:t>now</a:t>
            </a:r>
            <a:r>
              <a:rPr lang="hr-HR" dirty="0"/>
              <a:t> </a:t>
            </a:r>
            <a:r>
              <a:rPr lang="hr-HR" dirty="0" err="1"/>
              <a:t>compare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heard</a:t>
            </a:r>
            <a:r>
              <a:rPr lang="hr-HR" dirty="0"/>
              <a:t>.</a:t>
            </a:r>
          </a:p>
          <a:p>
            <a:r>
              <a:rPr lang="hr-HR" dirty="0"/>
              <a:t>I </a:t>
            </a:r>
            <a:r>
              <a:rPr lang="hr-HR" dirty="0" err="1"/>
              <a:t>suggest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organize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discussion</a:t>
            </a:r>
            <a:r>
              <a:rPr lang="hr-HR" dirty="0"/>
              <a:t> </a:t>
            </a:r>
            <a:r>
              <a:rPr lang="hr-HR" dirty="0" err="1"/>
              <a:t>into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categories</a:t>
            </a:r>
            <a:r>
              <a:rPr lang="hr-HR" dirty="0"/>
              <a:t>.</a:t>
            </a:r>
          </a:p>
          <a:p>
            <a:r>
              <a:rPr lang="hr-HR" dirty="0"/>
              <a:t>First: </a:t>
            </a:r>
            <a:r>
              <a:rPr lang="hr-HR" b="1" dirty="0"/>
              <a:t>COMMON</a:t>
            </a:r>
            <a:r>
              <a:rPr lang="hr-HR" dirty="0"/>
              <a:t> —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appeared</a:t>
            </a:r>
            <a:r>
              <a:rPr lang="hr-HR" dirty="0"/>
              <a:t> </a:t>
            </a:r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several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?</a:t>
            </a:r>
          </a:p>
          <a:p>
            <a:r>
              <a:rPr lang="hr-HR" dirty="0" err="1"/>
              <a:t>Second</a:t>
            </a:r>
            <a:r>
              <a:rPr lang="hr-HR" dirty="0"/>
              <a:t>: </a:t>
            </a:r>
            <a:r>
              <a:rPr lang="hr-HR" b="1" dirty="0"/>
              <a:t>CONTEXT-SPECIFIC</a:t>
            </a:r>
            <a:r>
              <a:rPr lang="hr-HR" dirty="0"/>
              <a:t> —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seems</a:t>
            </a:r>
            <a:r>
              <a:rPr lang="hr-HR" dirty="0"/>
              <a:t> </a:t>
            </a:r>
            <a:r>
              <a:rPr lang="hr-HR" dirty="0" err="1"/>
              <a:t>strongly</a:t>
            </a:r>
            <a:r>
              <a:rPr lang="hr-HR" dirty="0"/>
              <a:t> </a:t>
            </a:r>
            <a:r>
              <a:rPr lang="hr-HR" dirty="0" err="1"/>
              <a:t>dependent</a:t>
            </a:r>
            <a:r>
              <a:rPr lang="hr-HR" dirty="0"/>
              <a:t> on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application</a:t>
            </a:r>
            <a:r>
              <a:rPr lang="hr-HR" dirty="0"/>
              <a:t> </a:t>
            </a:r>
            <a:r>
              <a:rPr lang="hr-HR" dirty="0" err="1"/>
              <a:t>environment</a:t>
            </a:r>
            <a:r>
              <a:rPr lang="hr-HR" dirty="0"/>
              <a:t>?</a:t>
            </a:r>
          </a:p>
          <a:p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third</a:t>
            </a:r>
            <a:r>
              <a:rPr lang="hr-HR" dirty="0"/>
              <a:t>: </a:t>
            </a:r>
            <a:r>
              <a:rPr lang="hr-HR" b="1" dirty="0"/>
              <a:t>MISSING</a:t>
            </a:r>
            <a:r>
              <a:rPr lang="hr-HR" dirty="0"/>
              <a:t> —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mattered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these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 but </a:t>
            </a:r>
            <a:r>
              <a:rPr lang="hr-HR" dirty="0" err="1"/>
              <a:t>was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adequately</a:t>
            </a:r>
            <a:r>
              <a:rPr lang="hr-HR" dirty="0"/>
              <a:t> </a:t>
            </a:r>
            <a:r>
              <a:rPr lang="hr-HR" dirty="0" err="1"/>
              <a:t>captured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analytical</a:t>
            </a:r>
            <a:r>
              <a:rPr lang="hr-HR" dirty="0"/>
              <a:t> </a:t>
            </a:r>
            <a:r>
              <a:rPr lang="hr-HR" dirty="0" err="1"/>
              <a:t>structure</a:t>
            </a:r>
            <a:r>
              <a:rPr lang="hr-HR" dirty="0"/>
              <a:t>?</a:t>
            </a:r>
          </a:p>
          <a:p>
            <a:r>
              <a:rPr lang="hr-HR" dirty="0"/>
              <a:t>Let </a:t>
            </a:r>
            <a:r>
              <a:rPr lang="hr-HR" dirty="0" err="1"/>
              <a:t>us</a:t>
            </a:r>
            <a:r>
              <a:rPr lang="hr-HR" dirty="0"/>
              <a:t> start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first</a:t>
            </a:r>
            <a:r>
              <a:rPr lang="hr-HR" dirty="0"/>
              <a:t> one.</a:t>
            </a:r>
          </a:p>
          <a:p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did</a:t>
            </a:r>
            <a:r>
              <a:rPr lang="hr-HR" b="1" dirty="0"/>
              <a:t> </a:t>
            </a:r>
            <a:r>
              <a:rPr lang="hr-HR" b="1" dirty="0" err="1"/>
              <a:t>you</a:t>
            </a:r>
            <a:r>
              <a:rPr lang="hr-HR" b="1" dirty="0"/>
              <a:t> </a:t>
            </a:r>
            <a:r>
              <a:rPr lang="hr-HR" b="1" dirty="0" err="1"/>
              <a:t>hear</a:t>
            </a:r>
            <a:r>
              <a:rPr lang="hr-HR" b="1" dirty="0"/>
              <a:t> </a:t>
            </a:r>
            <a:r>
              <a:rPr lang="hr-HR" b="1" dirty="0" err="1"/>
              <a:t>today</a:t>
            </a:r>
            <a:r>
              <a:rPr lang="hr-HR" b="1" dirty="0"/>
              <a:t> </a:t>
            </a:r>
            <a:r>
              <a:rPr lang="hr-HR" b="1" dirty="0" err="1"/>
              <a:t>that</a:t>
            </a:r>
            <a:r>
              <a:rPr lang="hr-HR" b="1" dirty="0"/>
              <a:t> </a:t>
            </a:r>
            <a:r>
              <a:rPr lang="hr-HR" b="1" dirty="0" err="1"/>
              <a:t>appeared</a:t>
            </a:r>
            <a:r>
              <a:rPr lang="hr-HR" b="1" dirty="0"/>
              <a:t> </a:t>
            </a:r>
            <a:r>
              <a:rPr lang="hr-HR" b="1" dirty="0" err="1"/>
              <a:t>in</a:t>
            </a:r>
            <a:r>
              <a:rPr lang="hr-HR" b="1" dirty="0"/>
              <a:t> more </a:t>
            </a:r>
            <a:r>
              <a:rPr lang="hr-HR" b="1" dirty="0" err="1"/>
              <a:t>than</a:t>
            </a:r>
            <a:r>
              <a:rPr lang="hr-HR" b="1" dirty="0"/>
              <a:t> one </a:t>
            </a:r>
            <a:r>
              <a:rPr lang="hr-HR" b="1" dirty="0" err="1"/>
              <a:t>case</a:t>
            </a:r>
            <a:r>
              <a:rPr lang="hr-HR" b="1" dirty="0"/>
              <a:t>?</a:t>
            </a:r>
            <a:endParaRPr lang="en-US" b="1" dirty="0"/>
          </a:p>
          <a:p>
            <a:r>
              <a:rPr lang="hr-HR" dirty="0"/>
              <a:t>Onda moderiraš.</a:t>
            </a:r>
          </a:p>
          <a:p>
            <a:r>
              <a:rPr lang="hr-HR" dirty="0"/>
              <a:t>Nakon nekoliko odgovora:</a:t>
            </a:r>
          </a:p>
          <a:p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seemed</a:t>
            </a:r>
            <a:r>
              <a:rPr lang="hr-HR" dirty="0"/>
              <a:t> </a:t>
            </a:r>
            <a:r>
              <a:rPr lang="hr-HR" dirty="0" err="1"/>
              <a:t>highly</a:t>
            </a:r>
            <a:r>
              <a:rPr lang="hr-HR" dirty="0"/>
              <a:t> </a:t>
            </a:r>
            <a:r>
              <a:rPr lang="hr-HR" dirty="0" err="1"/>
              <a:t>domain-specific</a:t>
            </a:r>
            <a:r>
              <a:rPr lang="hr-HR" dirty="0"/>
              <a:t>?</a:t>
            </a:r>
          </a:p>
          <a:p>
            <a:r>
              <a:rPr lang="hr-HR" dirty="0"/>
              <a:t>Pa:</a:t>
            </a:r>
          </a:p>
          <a:p>
            <a:r>
              <a:rPr lang="hr-HR" dirty="0" err="1"/>
              <a:t>Did</a:t>
            </a:r>
            <a:r>
              <a:rPr lang="hr-HR" dirty="0"/>
              <a:t> </a:t>
            </a:r>
            <a:r>
              <a:rPr lang="hr-HR" dirty="0" err="1"/>
              <a:t>anything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</a:t>
            </a:r>
            <a:r>
              <a:rPr lang="hr-HR" dirty="0" err="1"/>
              <a:t>appear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currently</a:t>
            </a:r>
            <a:r>
              <a:rPr lang="hr-HR" dirty="0"/>
              <a:t> </a:t>
            </a:r>
            <a:r>
              <a:rPr lang="hr-HR" dirty="0" err="1"/>
              <a:t>capture</a:t>
            </a:r>
            <a:r>
              <a:rPr lang="hr-HR" dirty="0"/>
              <a:t>?</a:t>
            </a: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3384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Now</a:t>
            </a:r>
            <a:r>
              <a:rPr lang="hr-HR" dirty="0"/>
              <a:t> I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to </a:t>
            </a:r>
            <a:r>
              <a:rPr lang="hr-HR" dirty="0" err="1"/>
              <a:t>deliberately</a:t>
            </a:r>
            <a:r>
              <a:rPr lang="hr-HR" dirty="0"/>
              <a:t> </a:t>
            </a:r>
            <a:r>
              <a:rPr lang="hr-HR" dirty="0" err="1"/>
              <a:t>shift</a:t>
            </a:r>
            <a:r>
              <a:rPr lang="hr-HR" dirty="0"/>
              <a:t> </a:t>
            </a:r>
            <a:r>
              <a:rPr lang="hr-HR" dirty="0" err="1"/>
              <a:t>perspective</a:t>
            </a:r>
            <a:r>
              <a:rPr lang="hr-HR" dirty="0"/>
              <a:t>.</a:t>
            </a:r>
          </a:p>
          <a:p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</a:t>
            </a:r>
            <a:r>
              <a:rPr lang="hr-HR" dirty="0" err="1"/>
              <a:t>talked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systems</a:t>
            </a:r>
            <a:r>
              <a:rPr lang="hr-HR" dirty="0"/>
              <a:t>. Let </a:t>
            </a:r>
            <a:r>
              <a:rPr lang="hr-HR" dirty="0" err="1"/>
              <a:t>us</a:t>
            </a:r>
            <a:r>
              <a:rPr lang="hr-HR" dirty="0"/>
              <a:t> talk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people</a:t>
            </a:r>
            <a:r>
              <a:rPr lang="hr-HR" dirty="0"/>
              <a:t>.</a:t>
            </a:r>
          </a:p>
          <a:p>
            <a:r>
              <a:rPr lang="hr-HR" dirty="0"/>
              <a:t>Who </a:t>
            </a:r>
            <a:r>
              <a:rPr lang="hr-HR" dirty="0" err="1"/>
              <a:t>actually</a:t>
            </a:r>
            <a:r>
              <a:rPr lang="hr-HR" dirty="0"/>
              <a:t> </a:t>
            </a:r>
            <a:r>
              <a:rPr lang="hr-HR" dirty="0" err="1"/>
              <a:t>uses</a:t>
            </a:r>
            <a:r>
              <a:rPr lang="hr-HR" dirty="0"/>
              <a:t> </a:t>
            </a:r>
            <a:r>
              <a:rPr lang="hr-HR" dirty="0" err="1"/>
              <a:t>these</a:t>
            </a:r>
            <a:r>
              <a:rPr lang="hr-HR" dirty="0"/>
              <a:t> </a:t>
            </a:r>
            <a:r>
              <a:rPr lang="hr-HR" dirty="0" err="1"/>
              <a:t>systems</a:t>
            </a:r>
            <a:r>
              <a:rPr lang="hr-HR" dirty="0"/>
              <a:t> —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who</a:t>
            </a:r>
            <a:r>
              <a:rPr lang="hr-HR" dirty="0"/>
              <a:t> </a:t>
            </a:r>
            <a:r>
              <a:rPr lang="hr-HR" dirty="0" err="1"/>
              <a:t>else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affected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them</a:t>
            </a:r>
            <a:r>
              <a:rPr lang="hr-HR" dirty="0"/>
              <a:t>?</a:t>
            </a:r>
          </a:p>
          <a:p>
            <a:r>
              <a:rPr lang="hr-HR" dirty="0" err="1"/>
              <a:t>Where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human </a:t>
            </a:r>
            <a:r>
              <a:rPr lang="hr-HR" dirty="0" err="1"/>
              <a:t>judgment</a:t>
            </a:r>
            <a:r>
              <a:rPr lang="hr-HR" dirty="0"/>
              <a:t> </a:t>
            </a:r>
            <a:r>
              <a:rPr lang="hr-HR" dirty="0" err="1"/>
              <a:t>remain</a:t>
            </a:r>
            <a:r>
              <a:rPr lang="hr-HR" dirty="0"/>
              <a:t> </a:t>
            </a:r>
            <a:r>
              <a:rPr lang="hr-HR" dirty="0" err="1"/>
              <a:t>essential</a:t>
            </a:r>
            <a:r>
              <a:rPr lang="hr-HR" dirty="0"/>
              <a:t>?</a:t>
            </a:r>
          </a:p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control</a:t>
            </a:r>
            <a:r>
              <a:rPr lang="hr-HR" dirty="0"/>
              <a:t> </a:t>
            </a:r>
            <a:r>
              <a:rPr lang="hr-HR" dirty="0" err="1"/>
              <a:t>should</a:t>
            </a:r>
            <a:r>
              <a:rPr lang="hr-HR" dirty="0"/>
              <a:t> </a:t>
            </a:r>
            <a:r>
              <a:rPr lang="hr-HR" dirty="0" err="1"/>
              <a:t>remain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humans</a:t>
            </a:r>
            <a:r>
              <a:rPr lang="hr-HR" dirty="0"/>
              <a:t>?</a:t>
            </a:r>
          </a:p>
          <a:p>
            <a:r>
              <a:rPr lang="hr-HR" dirty="0"/>
              <a:t>Do </a:t>
            </a:r>
            <a:r>
              <a:rPr lang="hr-HR" dirty="0" err="1"/>
              <a:t>these</a:t>
            </a:r>
            <a:r>
              <a:rPr lang="hr-HR" dirty="0"/>
              <a:t> </a:t>
            </a:r>
            <a:r>
              <a:rPr lang="hr-HR" dirty="0" err="1"/>
              <a:t>technologies</a:t>
            </a:r>
            <a:r>
              <a:rPr lang="hr-HR" dirty="0"/>
              <a:t> </a:t>
            </a:r>
            <a:r>
              <a:rPr lang="hr-HR" dirty="0" err="1"/>
              <a:t>change</a:t>
            </a:r>
            <a:r>
              <a:rPr lang="hr-HR" dirty="0"/>
              <a:t> </a:t>
            </a:r>
            <a:r>
              <a:rPr lang="hr-HR" dirty="0" err="1"/>
              <a:t>professional</a:t>
            </a:r>
            <a:r>
              <a:rPr lang="hr-HR" dirty="0"/>
              <a:t> </a:t>
            </a:r>
            <a:r>
              <a:rPr lang="hr-HR" dirty="0" err="1"/>
              <a:t>roles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existing</a:t>
            </a:r>
            <a:r>
              <a:rPr lang="hr-HR" dirty="0"/>
              <a:t> </a:t>
            </a:r>
            <a:r>
              <a:rPr lang="hr-HR" dirty="0" err="1"/>
              <a:t>practices</a:t>
            </a:r>
            <a:r>
              <a:rPr lang="hr-HR" dirty="0"/>
              <a:t>?</a:t>
            </a:r>
          </a:p>
          <a:p>
            <a:r>
              <a:rPr lang="hr-HR" dirty="0"/>
              <a:t>Who </a:t>
            </a:r>
            <a:r>
              <a:rPr lang="hr-HR" dirty="0" err="1"/>
              <a:t>receives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benefits</a:t>
            </a:r>
            <a:r>
              <a:rPr lang="hr-HR" dirty="0"/>
              <a:t>?</a:t>
            </a:r>
          </a:p>
          <a:p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somebody</a:t>
            </a:r>
            <a:r>
              <a:rPr lang="hr-HR" dirty="0"/>
              <a:t> </a:t>
            </a:r>
            <a:r>
              <a:rPr lang="hr-HR" dirty="0" err="1"/>
              <a:t>else</a:t>
            </a:r>
            <a:r>
              <a:rPr lang="hr-HR" dirty="0"/>
              <a:t> </a:t>
            </a:r>
            <a:r>
              <a:rPr lang="hr-HR" dirty="0" err="1"/>
              <a:t>potentially</a:t>
            </a:r>
            <a:r>
              <a:rPr lang="hr-HR" dirty="0"/>
              <a:t> </a:t>
            </a:r>
            <a:r>
              <a:rPr lang="hr-HR" dirty="0" err="1"/>
              <a:t>receive</a:t>
            </a:r>
            <a:r>
              <a:rPr lang="hr-HR" dirty="0"/>
              <a:t> </a:t>
            </a:r>
            <a:r>
              <a:rPr lang="hr-HR" dirty="0" err="1"/>
              <a:t>additional</a:t>
            </a:r>
            <a:r>
              <a:rPr lang="hr-HR" dirty="0"/>
              <a:t> </a:t>
            </a:r>
            <a:r>
              <a:rPr lang="hr-HR" dirty="0" err="1"/>
              <a:t>workload</a:t>
            </a:r>
            <a:r>
              <a:rPr lang="hr-HR" dirty="0"/>
              <a:t>, </a:t>
            </a:r>
            <a:r>
              <a:rPr lang="hr-HR" dirty="0" err="1"/>
              <a:t>responsibility</a:t>
            </a:r>
            <a:r>
              <a:rPr lang="hr-HR" dirty="0"/>
              <a:t>,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risk</a:t>
            </a:r>
            <a:r>
              <a:rPr lang="hr-HR" dirty="0"/>
              <a:t>?</a:t>
            </a:r>
          </a:p>
          <a:p>
            <a:r>
              <a:rPr lang="hr-HR" dirty="0"/>
              <a:t>Let </a:t>
            </a:r>
            <a:r>
              <a:rPr lang="hr-HR" dirty="0" err="1"/>
              <a:t>us</a:t>
            </a:r>
            <a:r>
              <a:rPr lang="hr-HR" dirty="0"/>
              <a:t> </a:t>
            </a:r>
            <a:r>
              <a:rPr lang="hr-HR" dirty="0" err="1"/>
              <a:t>return</a:t>
            </a:r>
            <a:r>
              <a:rPr lang="hr-HR" dirty="0"/>
              <a:t> to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question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beginning</a:t>
            </a:r>
            <a:r>
              <a:rPr lang="hr-HR" dirty="0"/>
              <a:t>:</a:t>
            </a:r>
          </a:p>
          <a:p>
            <a:r>
              <a:rPr lang="hr-HR" b="1" dirty="0" err="1"/>
              <a:t>Should</a:t>
            </a:r>
            <a:r>
              <a:rPr lang="hr-HR" b="1" dirty="0"/>
              <a:t> Human </a:t>
            </a:r>
            <a:r>
              <a:rPr lang="hr-HR" b="1" dirty="0" err="1"/>
              <a:t>Interaction</a:t>
            </a:r>
            <a:r>
              <a:rPr lang="hr-HR" b="1" dirty="0"/>
              <a:t> </a:t>
            </a:r>
            <a:r>
              <a:rPr lang="hr-HR" b="1" dirty="0" err="1"/>
              <a:t>remain</a:t>
            </a:r>
            <a:r>
              <a:rPr lang="hr-HR" b="1" dirty="0"/>
              <a:t> one </a:t>
            </a:r>
            <a:r>
              <a:rPr lang="hr-HR" b="1" dirty="0" err="1"/>
              <a:t>dimension</a:t>
            </a:r>
            <a:r>
              <a:rPr lang="hr-HR" b="1" dirty="0"/>
              <a:t>, </a:t>
            </a:r>
            <a:r>
              <a:rPr lang="hr-HR" b="1" dirty="0" err="1"/>
              <a:t>or</a:t>
            </a:r>
            <a:r>
              <a:rPr lang="hr-HR" b="1" dirty="0"/>
              <a:t> </a:t>
            </a:r>
            <a:r>
              <a:rPr lang="hr-HR" b="1" dirty="0" err="1"/>
              <a:t>should</a:t>
            </a:r>
            <a:r>
              <a:rPr lang="hr-HR" b="1" dirty="0"/>
              <a:t> human-</a:t>
            </a:r>
            <a:r>
              <a:rPr lang="hr-HR" b="1" dirty="0" err="1"/>
              <a:t>centeredness</a:t>
            </a:r>
            <a:r>
              <a:rPr lang="hr-HR" b="1" dirty="0"/>
              <a:t> </a:t>
            </a:r>
            <a:r>
              <a:rPr lang="hr-HR" b="1" dirty="0" err="1"/>
              <a:t>cut</a:t>
            </a:r>
            <a:r>
              <a:rPr lang="hr-HR" b="1" dirty="0"/>
              <a:t> </a:t>
            </a:r>
            <a:r>
              <a:rPr lang="hr-HR" b="1" dirty="0" err="1"/>
              <a:t>across</a:t>
            </a:r>
            <a:r>
              <a:rPr lang="hr-HR" b="1" dirty="0"/>
              <a:t> </a:t>
            </a:r>
            <a:r>
              <a:rPr lang="hr-HR" b="1" dirty="0" err="1"/>
              <a:t>the</a:t>
            </a:r>
            <a:r>
              <a:rPr lang="hr-HR" b="1" dirty="0"/>
              <a:t> </a:t>
            </a:r>
            <a:r>
              <a:rPr lang="hr-HR" b="1" dirty="0" err="1"/>
              <a:t>whole</a:t>
            </a:r>
            <a:r>
              <a:rPr lang="hr-HR" b="1" dirty="0"/>
              <a:t> </a:t>
            </a:r>
            <a:r>
              <a:rPr lang="hr-HR" b="1" dirty="0" err="1"/>
              <a:t>framework</a:t>
            </a:r>
            <a:r>
              <a:rPr lang="hr-HR" b="1" dirty="0"/>
              <a:t>?</a:t>
            </a:r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4425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Another</a:t>
            </a:r>
            <a:r>
              <a:rPr lang="hr-HR" dirty="0"/>
              <a:t> </a:t>
            </a:r>
            <a:r>
              <a:rPr lang="hr-HR" dirty="0" err="1"/>
              <a:t>question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emerged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our</a:t>
            </a:r>
            <a:r>
              <a:rPr lang="hr-HR" dirty="0"/>
              <a:t> </a:t>
            </a:r>
            <a:r>
              <a:rPr lang="hr-HR" dirty="0" err="1"/>
              <a:t>work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whether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should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understood</a:t>
            </a:r>
            <a:r>
              <a:rPr lang="hr-HR" dirty="0"/>
              <a:t> as a </a:t>
            </a:r>
            <a:r>
              <a:rPr lang="hr-HR" dirty="0" err="1"/>
              <a:t>progression</a:t>
            </a:r>
            <a:r>
              <a:rPr lang="hr-HR" dirty="0"/>
              <a:t>.</a:t>
            </a:r>
          </a:p>
          <a:p>
            <a:r>
              <a:rPr lang="hr-HR" dirty="0"/>
              <a:t>A </a:t>
            </a:r>
            <a:r>
              <a:rPr lang="hr-HR" dirty="0" err="1"/>
              <a:t>solution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demonstrate</a:t>
            </a:r>
            <a:r>
              <a:rPr lang="hr-HR" dirty="0"/>
              <a:t> </a:t>
            </a:r>
            <a:r>
              <a:rPr lang="hr-HR" dirty="0" err="1"/>
              <a:t>technical</a:t>
            </a:r>
            <a:r>
              <a:rPr lang="hr-HR" dirty="0"/>
              <a:t> </a:t>
            </a:r>
            <a:r>
              <a:rPr lang="hr-HR" dirty="0" err="1"/>
              <a:t>capability</a:t>
            </a:r>
            <a:r>
              <a:rPr lang="hr-HR" dirty="0"/>
              <a:t> </a:t>
            </a:r>
            <a:r>
              <a:rPr lang="hr-HR" dirty="0" err="1"/>
              <a:t>without</a:t>
            </a:r>
            <a:r>
              <a:rPr lang="hr-HR" dirty="0"/>
              <a:t> </a:t>
            </a:r>
            <a:r>
              <a:rPr lang="hr-HR" dirty="0" err="1"/>
              <a:t>yet</a:t>
            </a:r>
            <a:r>
              <a:rPr lang="hr-HR" dirty="0"/>
              <a:t> </a:t>
            </a:r>
            <a:r>
              <a:rPr lang="hr-HR" dirty="0" err="1"/>
              <a:t>demonstrating</a:t>
            </a:r>
            <a:r>
              <a:rPr lang="hr-HR" dirty="0"/>
              <a:t> </a:t>
            </a:r>
            <a:r>
              <a:rPr lang="hr-HR" dirty="0" err="1"/>
              <a:t>usefulness</a:t>
            </a:r>
            <a:r>
              <a:rPr lang="hr-HR" dirty="0"/>
              <a:t>.</a:t>
            </a:r>
          </a:p>
          <a:p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useful</a:t>
            </a:r>
            <a:r>
              <a:rPr lang="hr-HR" dirty="0"/>
              <a:t> </a:t>
            </a:r>
            <a:r>
              <a:rPr lang="hr-HR" dirty="0" err="1"/>
              <a:t>without</a:t>
            </a:r>
            <a:r>
              <a:rPr lang="hr-HR" dirty="0"/>
              <a:t> </a:t>
            </a:r>
            <a:r>
              <a:rPr lang="hr-HR" dirty="0" err="1"/>
              <a:t>being</a:t>
            </a:r>
            <a:r>
              <a:rPr lang="hr-HR" dirty="0"/>
              <a:t> </a:t>
            </a:r>
            <a:r>
              <a:rPr lang="hr-HR" dirty="0" err="1"/>
              <a:t>accepted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people</a:t>
            </a:r>
            <a:r>
              <a:rPr lang="hr-HR" dirty="0"/>
              <a:t>.</a:t>
            </a:r>
          </a:p>
          <a:p>
            <a:r>
              <a:rPr lang="hr-HR" dirty="0" err="1"/>
              <a:t>People</a:t>
            </a:r>
            <a:r>
              <a:rPr lang="hr-HR" dirty="0"/>
              <a:t> </a:t>
            </a:r>
            <a:r>
              <a:rPr lang="hr-HR" dirty="0" err="1"/>
              <a:t>may</a:t>
            </a:r>
            <a:r>
              <a:rPr lang="hr-HR" dirty="0"/>
              <a:t> </a:t>
            </a:r>
            <a:r>
              <a:rPr lang="hr-HR" dirty="0" err="1"/>
              <a:t>accept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, but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may</a:t>
            </a:r>
            <a:r>
              <a:rPr lang="hr-HR" dirty="0"/>
              <a:t> </a:t>
            </a:r>
            <a:r>
              <a:rPr lang="hr-HR" dirty="0" err="1"/>
              <a:t>still</a:t>
            </a:r>
            <a:r>
              <a:rPr lang="hr-HR" dirty="0"/>
              <a:t> </a:t>
            </a:r>
            <a:r>
              <a:rPr lang="hr-HR" dirty="0" err="1"/>
              <a:t>fail</a:t>
            </a:r>
            <a:r>
              <a:rPr lang="hr-HR" dirty="0"/>
              <a:t> to </a:t>
            </a:r>
            <a:r>
              <a:rPr lang="hr-HR" dirty="0" err="1"/>
              <a:t>integrate</a:t>
            </a:r>
            <a:r>
              <a:rPr lang="hr-HR" dirty="0"/>
              <a:t> </a:t>
            </a:r>
            <a:r>
              <a:rPr lang="hr-HR" dirty="0" err="1"/>
              <a:t>into</a:t>
            </a:r>
            <a:r>
              <a:rPr lang="hr-HR" dirty="0"/>
              <a:t> </a:t>
            </a:r>
            <a:r>
              <a:rPr lang="hr-HR" dirty="0" err="1"/>
              <a:t>organizational</a:t>
            </a:r>
            <a:r>
              <a:rPr lang="hr-HR" dirty="0"/>
              <a:t> </a:t>
            </a:r>
            <a:r>
              <a:rPr lang="hr-HR" dirty="0" err="1"/>
              <a:t>workflows</a:t>
            </a:r>
            <a:r>
              <a:rPr lang="hr-HR" dirty="0"/>
              <a:t>.</a:t>
            </a:r>
          </a:p>
          <a:p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initial</a:t>
            </a:r>
            <a:r>
              <a:rPr lang="hr-HR" dirty="0"/>
              <a:t> </a:t>
            </a:r>
            <a:r>
              <a:rPr lang="hr-HR" dirty="0" err="1"/>
              <a:t>organizational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necessarily</a:t>
            </a:r>
            <a:r>
              <a:rPr lang="hr-HR" dirty="0"/>
              <a:t> </a:t>
            </a:r>
            <a:r>
              <a:rPr lang="hr-HR" dirty="0" err="1"/>
              <a:t>imply</a:t>
            </a:r>
            <a:r>
              <a:rPr lang="hr-HR" dirty="0"/>
              <a:t> </a:t>
            </a:r>
            <a:r>
              <a:rPr lang="hr-HR" dirty="0" err="1"/>
              <a:t>sustained</a:t>
            </a:r>
            <a:r>
              <a:rPr lang="hr-HR" dirty="0"/>
              <a:t> use.</a:t>
            </a:r>
          </a:p>
          <a:p>
            <a:r>
              <a:rPr lang="hr-HR" dirty="0" err="1"/>
              <a:t>So</a:t>
            </a:r>
            <a:r>
              <a:rPr lang="hr-HR" dirty="0"/>
              <a:t> I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to </a:t>
            </a:r>
            <a:r>
              <a:rPr lang="hr-HR" dirty="0" err="1"/>
              <a:t>think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today's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 </a:t>
            </a:r>
            <a:r>
              <a:rPr lang="hr-HR" dirty="0" err="1"/>
              <a:t>along</a:t>
            </a:r>
            <a:r>
              <a:rPr lang="hr-HR" dirty="0"/>
              <a:t> </a:t>
            </a:r>
            <a:r>
              <a:rPr lang="hr-HR" dirty="0" err="1"/>
              <a:t>this</a:t>
            </a:r>
            <a:r>
              <a:rPr lang="hr-HR" dirty="0"/>
              <a:t> </a:t>
            </a:r>
            <a:r>
              <a:rPr lang="hr-HR" dirty="0" err="1"/>
              <a:t>continuum</a:t>
            </a:r>
            <a:r>
              <a:rPr lang="hr-HR" dirty="0"/>
              <a:t>.</a:t>
            </a:r>
          </a:p>
          <a:p>
            <a:r>
              <a:rPr lang="hr-HR" b="1" dirty="0" err="1"/>
              <a:t>Where</a:t>
            </a:r>
            <a:r>
              <a:rPr lang="hr-HR" b="1" dirty="0"/>
              <a:t> are </a:t>
            </a:r>
            <a:r>
              <a:rPr lang="hr-HR" b="1" dirty="0" err="1"/>
              <a:t>they</a:t>
            </a:r>
            <a:r>
              <a:rPr lang="hr-HR" b="1" dirty="0"/>
              <a:t> </a:t>
            </a:r>
            <a:r>
              <a:rPr lang="hr-HR" b="1" dirty="0" err="1"/>
              <a:t>currently</a:t>
            </a:r>
            <a:r>
              <a:rPr lang="hr-HR" b="1" dirty="0"/>
              <a:t>?</a:t>
            </a:r>
            <a:endParaRPr lang="hr-HR" dirty="0"/>
          </a:p>
          <a:p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perhaps</a:t>
            </a:r>
            <a:r>
              <a:rPr lang="hr-HR" dirty="0"/>
              <a:t> more </a:t>
            </a:r>
            <a:r>
              <a:rPr lang="hr-HR" dirty="0" err="1"/>
              <a:t>importantly</a:t>
            </a:r>
            <a:r>
              <a:rPr lang="hr-HR" dirty="0"/>
              <a:t>:</a:t>
            </a:r>
          </a:p>
          <a:p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evidence</a:t>
            </a:r>
            <a:r>
              <a:rPr lang="hr-HR" b="1" dirty="0"/>
              <a:t> </a:t>
            </a:r>
            <a:r>
              <a:rPr lang="hr-HR" b="1" dirty="0" err="1"/>
              <a:t>or</a:t>
            </a:r>
            <a:r>
              <a:rPr lang="hr-HR" b="1" dirty="0"/>
              <a:t> </a:t>
            </a:r>
            <a:r>
              <a:rPr lang="hr-HR" b="1" dirty="0" err="1"/>
              <a:t>change</a:t>
            </a:r>
            <a:r>
              <a:rPr lang="hr-HR" b="1" dirty="0"/>
              <a:t> </a:t>
            </a:r>
            <a:r>
              <a:rPr lang="hr-HR" b="1" dirty="0" err="1"/>
              <a:t>would</a:t>
            </a:r>
            <a:r>
              <a:rPr lang="hr-HR" b="1" dirty="0"/>
              <a:t> </a:t>
            </a:r>
            <a:r>
              <a:rPr lang="hr-HR" b="1" dirty="0" err="1"/>
              <a:t>be</a:t>
            </a:r>
            <a:r>
              <a:rPr lang="hr-HR" b="1" dirty="0"/>
              <a:t> </a:t>
            </a:r>
            <a:r>
              <a:rPr lang="hr-HR" b="1" dirty="0" err="1"/>
              <a:t>needed</a:t>
            </a:r>
            <a:r>
              <a:rPr lang="hr-HR" b="1" dirty="0"/>
              <a:t> to </a:t>
            </a:r>
            <a:r>
              <a:rPr lang="hr-HR" b="1" dirty="0" err="1"/>
              <a:t>move</a:t>
            </a:r>
            <a:r>
              <a:rPr lang="hr-HR" b="1" dirty="0"/>
              <a:t> </a:t>
            </a:r>
            <a:r>
              <a:rPr lang="hr-HR" b="1" dirty="0" err="1"/>
              <a:t>them</a:t>
            </a:r>
            <a:r>
              <a:rPr lang="hr-HR" b="1" dirty="0"/>
              <a:t> </a:t>
            </a:r>
            <a:r>
              <a:rPr lang="hr-HR" b="1" dirty="0" err="1"/>
              <a:t>further</a:t>
            </a:r>
            <a:r>
              <a:rPr lang="hr-HR" b="1" dirty="0"/>
              <a:t> </a:t>
            </a:r>
            <a:r>
              <a:rPr lang="hr-HR" b="1" dirty="0" err="1"/>
              <a:t>towards</a:t>
            </a:r>
            <a:r>
              <a:rPr lang="hr-HR" b="1" dirty="0"/>
              <a:t> </a:t>
            </a:r>
            <a:r>
              <a:rPr lang="hr-HR" b="1" dirty="0" err="1"/>
              <a:t>sustained</a:t>
            </a:r>
            <a:r>
              <a:rPr lang="hr-HR" b="1" dirty="0"/>
              <a:t> </a:t>
            </a:r>
            <a:r>
              <a:rPr lang="hr-HR" b="1" dirty="0" err="1"/>
              <a:t>adoption</a:t>
            </a:r>
            <a:r>
              <a:rPr lang="hr-HR" b="1" dirty="0"/>
              <a:t>?</a:t>
            </a:r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30699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Let </a:t>
            </a:r>
            <a:r>
              <a:rPr lang="hr-HR" dirty="0" err="1"/>
              <a:t>us</a:t>
            </a:r>
            <a:r>
              <a:rPr lang="hr-HR" dirty="0"/>
              <a:t> </a:t>
            </a:r>
            <a:r>
              <a:rPr lang="hr-HR" dirty="0" err="1"/>
              <a:t>now</a:t>
            </a:r>
            <a:r>
              <a:rPr lang="hr-HR" dirty="0"/>
              <a:t> </a:t>
            </a:r>
            <a:r>
              <a:rPr lang="hr-HR" dirty="0" err="1"/>
              <a:t>try</a:t>
            </a:r>
            <a:r>
              <a:rPr lang="hr-HR" dirty="0"/>
              <a:t> to </a:t>
            </a:r>
            <a:r>
              <a:rPr lang="hr-HR" dirty="0" err="1"/>
              <a:t>turn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discussion</a:t>
            </a:r>
            <a:r>
              <a:rPr lang="hr-HR" dirty="0"/>
              <a:t> </a:t>
            </a:r>
            <a:r>
              <a:rPr lang="hr-HR" dirty="0" err="1"/>
              <a:t>into</a:t>
            </a:r>
            <a:r>
              <a:rPr lang="hr-HR" dirty="0"/>
              <a:t> </a:t>
            </a:r>
            <a:r>
              <a:rPr lang="hr-HR" dirty="0" err="1"/>
              <a:t>something</a:t>
            </a:r>
            <a:r>
              <a:rPr lang="hr-HR" dirty="0"/>
              <a:t> </a:t>
            </a:r>
            <a:r>
              <a:rPr lang="hr-HR" dirty="0" err="1"/>
              <a:t>concrete</a:t>
            </a:r>
            <a:r>
              <a:rPr lang="hr-HR" dirty="0"/>
              <a:t>.</a:t>
            </a:r>
          </a:p>
          <a:p>
            <a:r>
              <a:rPr lang="hr-HR" dirty="0"/>
              <a:t>I </a:t>
            </a:r>
            <a:r>
              <a:rPr lang="hr-HR" dirty="0" err="1"/>
              <a:t>suggest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categories</a:t>
            </a:r>
            <a:r>
              <a:rPr lang="hr-HR" dirty="0"/>
              <a:t>.</a:t>
            </a:r>
          </a:p>
          <a:p>
            <a:r>
              <a:rPr lang="hr-HR" b="1" dirty="0"/>
              <a:t>KEEP:</a:t>
            </a:r>
            <a:r>
              <a:rPr lang="hr-HR" dirty="0"/>
              <a:t>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elements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nine-dimensional</a:t>
            </a:r>
            <a:r>
              <a:rPr lang="hr-HR" dirty="0"/>
              <a:t> </a:t>
            </a:r>
            <a:r>
              <a:rPr lang="hr-HR" dirty="0" err="1"/>
              <a:t>structure</a:t>
            </a:r>
            <a:r>
              <a:rPr lang="hr-HR" dirty="0"/>
              <a:t> </a:t>
            </a:r>
            <a:r>
              <a:rPr lang="hr-HR" dirty="0" err="1"/>
              <a:t>seem</a:t>
            </a:r>
            <a:r>
              <a:rPr lang="hr-HR" dirty="0"/>
              <a:t> </a:t>
            </a:r>
            <a:r>
              <a:rPr lang="hr-HR" dirty="0" err="1"/>
              <a:t>useful</a:t>
            </a:r>
            <a:r>
              <a:rPr lang="hr-HR" dirty="0"/>
              <a:t> as </a:t>
            </a:r>
            <a:r>
              <a:rPr lang="hr-HR" dirty="0" err="1"/>
              <a:t>they</a:t>
            </a:r>
            <a:r>
              <a:rPr lang="hr-HR" dirty="0"/>
              <a:t> are?</a:t>
            </a:r>
          </a:p>
          <a:p>
            <a:r>
              <a:rPr lang="hr-HR" b="1" dirty="0"/>
              <a:t>REFINE:</a:t>
            </a:r>
            <a:r>
              <a:rPr lang="hr-HR" dirty="0"/>
              <a:t>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dimensions</a:t>
            </a:r>
            <a:r>
              <a:rPr lang="hr-HR" dirty="0"/>
              <a:t> are </a:t>
            </a:r>
            <a:r>
              <a:rPr lang="hr-HR" dirty="0" err="1"/>
              <a:t>useful</a:t>
            </a:r>
            <a:r>
              <a:rPr lang="hr-HR" dirty="0"/>
              <a:t> but </a:t>
            </a:r>
            <a:r>
              <a:rPr lang="hr-HR" dirty="0" err="1"/>
              <a:t>need</a:t>
            </a:r>
            <a:r>
              <a:rPr lang="hr-HR" dirty="0"/>
              <a:t> </a:t>
            </a:r>
            <a:r>
              <a:rPr lang="hr-HR" dirty="0" err="1"/>
              <a:t>clearer</a:t>
            </a:r>
            <a:r>
              <a:rPr lang="hr-HR" dirty="0"/>
              <a:t> </a:t>
            </a:r>
            <a:r>
              <a:rPr lang="hr-HR" dirty="0" err="1"/>
              <a:t>definitions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second-level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?</a:t>
            </a:r>
          </a:p>
          <a:p>
            <a:r>
              <a:rPr lang="hr-HR" b="1" dirty="0"/>
              <a:t>ADD:</a:t>
            </a:r>
            <a:r>
              <a:rPr lang="hr-HR" dirty="0"/>
              <a:t>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missing</a:t>
            </a:r>
            <a:r>
              <a:rPr lang="hr-HR" dirty="0"/>
              <a:t>?</a:t>
            </a:r>
          </a:p>
          <a:p>
            <a:r>
              <a:rPr lang="hr-HR" dirty="0"/>
              <a:t>I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particularly</a:t>
            </a:r>
            <a:r>
              <a:rPr lang="hr-HR" dirty="0"/>
              <a:t> </a:t>
            </a:r>
            <a:r>
              <a:rPr lang="hr-HR" dirty="0" err="1"/>
              <a:t>like</a:t>
            </a:r>
            <a:r>
              <a:rPr lang="hr-HR" dirty="0"/>
              <a:t> </a:t>
            </a:r>
            <a:r>
              <a:rPr lang="hr-HR" dirty="0" err="1"/>
              <a:t>us</a:t>
            </a:r>
            <a:r>
              <a:rPr lang="hr-HR" dirty="0"/>
              <a:t> to </a:t>
            </a:r>
            <a:r>
              <a:rPr lang="hr-HR" dirty="0" err="1"/>
              <a:t>distinguish</a:t>
            </a:r>
            <a:r>
              <a:rPr lang="hr-HR" dirty="0"/>
              <a:t> </a:t>
            </a:r>
            <a:r>
              <a:rPr lang="hr-HR" dirty="0" err="1"/>
              <a:t>between</a:t>
            </a:r>
            <a:r>
              <a:rPr lang="hr-HR" dirty="0"/>
              <a:t> </a:t>
            </a:r>
            <a:r>
              <a:rPr lang="hr-HR" dirty="0" err="1"/>
              <a:t>two</a:t>
            </a:r>
            <a:r>
              <a:rPr lang="hr-HR" dirty="0"/>
              <a:t> </a:t>
            </a:r>
            <a:r>
              <a:rPr lang="hr-HR" dirty="0" err="1"/>
              <a:t>things</a:t>
            </a:r>
            <a:r>
              <a:rPr lang="hr-HR" dirty="0"/>
              <a:t>:</a:t>
            </a:r>
          </a:p>
          <a:p>
            <a:r>
              <a:rPr lang="hr-HR" dirty="0" err="1"/>
              <a:t>Is</a:t>
            </a:r>
            <a:r>
              <a:rPr lang="hr-HR" dirty="0"/>
              <a:t> a </a:t>
            </a:r>
            <a:r>
              <a:rPr lang="hr-HR" dirty="0" err="1"/>
              <a:t>dimension</a:t>
            </a:r>
            <a:r>
              <a:rPr lang="hr-HR" dirty="0"/>
              <a:t> </a:t>
            </a:r>
            <a:r>
              <a:rPr lang="hr-HR" dirty="0" err="1"/>
              <a:t>itself</a:t>
            </a:r>
            <a:r>
              <a:rPr lang="hr-HR" dirty="0"/>
              <a:t> </a:t>
            </a:r>
            <a:r>
              <a:rPr lang="hr-HR" dirty="0" err="1"/>
              <a:t>missing</a:t>
            </a:r>
            <a:r>
              <a:rPr lang="hr-HR" dirty="0"/>
              <a:t>?</a:t>
            </a:r>
          </a:p>
          <a:p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existing</a:t>
            </a:r>
            <a:r>
              <a:rPr lang="hr-HR" dirty="0"/>
              <a:t> </a:t>
            </a:r>
            <a:r>
              <a:rPr lang="hr-HR" dirty="0" err="1"/>
              <a:t>dimension</a:t>
            </a:r>
            <a:r>
              <a:rPr lang="hr-HR" dirty="0"/>
              <a:t> </a:t>
            </a:r>
            <a:r>
              <a:rPr lang="hr-HR" dirty="0" err="1"/>
              <a:t>simply</a:t>
            </a:r>
            <a:r>
              <a:rPr lang="hr-HR" dirty="0"/>
              <a:t> </a:t>
            </a:r>
            <a:r>
              <a:rPr lang="hr-HR" dirty="0" err="1"/>
              <a:t>insufficiently</a:t>
            </a:r>
            <a:r>
              <a:rPr lang="hr-HR" dirty="0"/>
              <a:t> </a:t>
            </a:r>
            <a:r>
              <a:rPr lang="hr-HR" dirty="0" err="1"/>
              <a:t>operationalized</a:t>
            </a:r>
            <a:r>
              <a:rPr lang="hr-HR" dirty="0"/>
              <a:t>?</a:t>
            </a:r>
          </a:p>
          <a:p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distinction</a:t>
            </a:r>
            <a:r>
              <a:rPr lang="hr-HR" dirty="0"/>
              <a:t> </a:t>
            </a:r>
            <a:r>
              <a:rPr lang="hr-HR" dirty="0" err="1"/>
              <a:t>will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</a:t>
            </a:r>
            <a:r>
              <a:rPr lang="hr-HR" dirty="0" err="1"/>
              <a:t>when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develop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next</a:t>
            </a:r>
            <a:r>
              <a:rPr lang="hr-HR" dirty="0"/>
              <a:t> </a:t>
            </a:r>
            <a:r>
              <a:rPr lang="hr-HR" dirty="0" err="1"/>
              <a:t>version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BA178-8154-4D26-B80C-53D2CF69DAC5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79967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5D10-DBFB-B182-4025-106114333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FF1D4-77E7-E046-8DA3-9430DB89C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E804B-419D-EA82-0812-F35D61E5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74F1A-ADF8-4593-DEF2-E7B659BB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65708-83EA-BB11-03D6-DEE59220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1390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D09B-76F9-22C7-4901-43070CBD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515F2-076C-1284-A427-0A8D229A8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64AE8-E6EF-0063-D267-550324DA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E73E6-BFB2-87FA-661C-ABB00F9F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B1969-3DFE-A1B4-D224-CE39EB78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15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EBAF-2227-1700-A905-DB5C679DA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11466-6351-047E-2EC8-09C6DE34D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4CEF0-B891-3DB5-90CF-6CFF36FB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CE135-C0E3-8591-AEAD-F7CFBF84E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D05D3-5A9F-1451-8E6B-74088DF2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39647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97DB-4C91-BCFE-DEBD-49544A03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2EB01-8174-0ECF-BACE-7FE2D2114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B5CBE-A8A4-36AC-E36B-2701C9BF7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0EA24-CEFC-329D-9818-0930ED0F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F56ED-E1B1-1B6A-0C6B-9AFD6CA4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27A90-B78F-14A2-8E0E-89E8F388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278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F9847-4F9C-F061-A8FD-FCAF4EAC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8A2C4-6473-0AAD-42CD-503EA3138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DF5F6-B508-121A-9B8F-EAC2818E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D1145-296D-CA5F-3474-B48F35CA1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9302F-C445-49A4-8BE8-0E156CD7B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0F2F0-0A5B-5D3D-1625-17CA888F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BB4F2-BF22-DD46-88F6-FFA6724B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FC0538-39E1-154A-18DD-A3EDD9A7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2657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344A-2C42-1046-DD82-A3735A69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9C1A1-C03F-D9F6-9151-752E0A7E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DB1D8-8962-C88F-BE0F-70A927F0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91F5C-CB0C-661F-2071-C3E4CC62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672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20DA5-8A71-4F26-7217-180F973D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70B59-CE62-3874-4902-EDC75C3D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A3E65-D29B-6AFD-76B8-4A384D3E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0062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D634-DF83-BD89-F0E9-07A7307A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62D69-06B6-1744-5DB2-C3C24298B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84196-C74B-69DD-F019-935D005F0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01572-16C1-6F24-09F5-832AB18B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C79AE-70F5-A4A5-181F-A7CE014E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38644-F9F2-83A4-8EFD-906453DA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9654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5B10-6A1F-7290-EFAC-14ED5897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84899-4434-AC62-E6FE-D913D2687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18A89-2A0A-751A-A90A-BC7854EA6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9C26A-25A6-9735-54C3-A8AFB162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B65E5-5852-1B42-E1AC-056AA282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FB5AE-789A-EC22-686B-DAE2CE77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1056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7A17-AD62-CE6A-66F6-F85F5FFE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6A634-201E-120A-1D9C-1FE34F9D8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B1FE7-8092-BEEA-265E-E6DCE536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9D07B-66E9-4F1F-DC54-E360F226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A697-DA59-6589-7FA8-533A8513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884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4349A-27CF-C722-4316-5E5F53D14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3CAA0-9240-514F-A636-2E0177612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9F44C-DDFC-DBB5-5ED4-67623BD5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24ACA-7D89-1592-D934-DD7E5452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90A68-8450-45C0-2C59-BD130884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8317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7DD88F-C607-6574-9C8A-49453F2C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8332-A6F5-8F30-91F0-C3AA07B10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AD6EE-2F07-FB8F-11EF-44CAA956D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EB982-C621-471B-92B0-DFC383C712CB}" type="datetimeFigureOut">
              <a:rPr lang="hr-HR" smtClean="0"/>
              <a:t>18.9.2026.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18A85-F099-B0BB-5C95-DEEABE012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F15E-3081-F7D6-0D18-D7A35AF1E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47C45-C54F-4545-B360-D8792BF9204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5423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C5325-E861-FEA5-FB83-DA2E57492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554" y="1386220"/>
            <a:ext cx="11670890" cy="2635993"/>
          </a:xfrm>
        </p:spPr>
        <p:txBody>
          <a:bodyPr anchor="b">
            <a:normAutofit fontScale="90000"/>
          </a:bodyPr>
          <a:lstStyle/>
          <a:p>
            <a:r>
              <a:rPr lang="hr-HR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Research </a:t>
            </a:r>
            <a:r>
              <a:rPr lang="hr-HR" sz="36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Alignment</a:t>
            </a:r>
            <a:r>
              <a:rPr lang="hr-HR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Workshop II</a:t>
            </a:r>
            <a:b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hr-H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Human-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Centered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Adoption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of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Large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Language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Models</a:t>
            </a:r>
            <a:b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Towards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Cross-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Domain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Evidence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Comparative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Studies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and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Systematic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Adoption</a:t>
            </a:r>
            <a:r>
              <a:rPr lang="hr-HR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r-HR" sz="31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Frameworks</a:t>
            </a:r>
            <a:br>
              <a:rPr lang="en-US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sz="3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hr-HR" sz="27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SOFTCOM 2026 | Split</a:t>
            </a:r>
            <a:r>
              <a:rPr lang="en-US" sz="27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Croatia</a:t>
            </a:r>
            <a:r>
              <a:rPr lang="hr-HR" sz="27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| 18 </a:t>
            </a:r>
            <a:r>
              <a:rPr lang="hr-HR" sz="2700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September</a:t>
            </a:r>
            <a:r>
              <a:rPr lang="hr-HR" sz="27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42339-383B-D587-F4E6-6EC568CBE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29" y="4243913"/>
            <a:ext cx="4662957" cy="1395022"/>
          </a:xfrm>
        </p:spPr>
        <p:txBody>
          <a:bodyPr anchor="t">
            <a:normAutofit fontScale="2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r>
              <a:rPr lang="hr-HR" sz="8000" b="1" dirty="0" err="1">
                <a:solidFill>
                  <a:schemeClr val="bg1"/>
                </a:solidFill>
              </a:rPr>
              <a:t>Scientific</a:t>
            </a:r>
            <a:r>
              <a:rPr lang="hr-HR" sz="8000" b="1" dirty="0">
                <a:solidFill>
                  <a:schemeClr val="bg1"/>
                </a:solidFill>
              </a:rPr>
              <a:t> </a:t>
            </a:r>
            <a:r>
              <a:rPr lang="hr-HR" sz="8000" b="1" dirty="0" err="1">
                <a:solidFill>
                  <a:schemeClr val="bg1"/>
                </a:solidFill>
              </a:rPr>
              <a:t>Organizers</a:t>
            </a:r>
            <a:r>
              <a:rPr lang="en-US" sz="8000" b="1" dirty="0">
                <a:solidFill>
                  <a:schemeClr val="bg1"/>
                </a:solidFill>
              </a:rPr>
              <a:t>:</a:t>
            </a:r>
            <a:br>
              <a:rPr lang="hr-HR" sz="8000" dirty="0">
                <a:solidFill>
                  <a:schemeClr val="bg1"/>
                </a:solidFill>
              </a:rPr>
            </a:br>
            <a:r>
              <a:rPr lang="hr-HR" sz="8000" dirty="0">
                <a:solidFill>
                  <a:schemeClr val="bg1"/>
                </a:solidFill>
              </a:rPr>
              <a:t>Tihana Galinac Grbac 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hr-HR" sz="8000" dirty="0">
                <a:solidFill>
                  <a:schemeClr val="bg1"/>
                </a:solidFill>
              </a:rPr>
              <a:t>Darko Huljenić 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hr-HR" sz="8000" dirty="0">
                <a:solidFill>
                  <a:schemeClr val="bg1"/>
                </a:solidFill>
              </a:rPr>
              <a:t>Dinko </a:t>
            </a:r>
            <a:r>
              <a:rPr lang="hr-HR" sz="8000" dirty="0" err="1">
                <a:solidFill>
                  <a:schemeClr val="bg1"/>
                </a:solidFill>
              </a:rPr>
              <a:t>Begušić</a:t>
            </a:r>
            <a:r>
              <a:rPr lang="hr-HR" sz="8000" dirty="0">
                <a:solidFill>
                  <a:schemeClr val="bg1"/>
                </a:solidFill>
              </a:rPr>
              <a:t> 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hr-HR" sz="8000" dirty="0">
                <a:solidFill>
                  <a:schemeClr val="bg1"/>
                </a:solidFill>
              </a:rPr>
              <a:t>Dražen </a:t>
            </a:r>
            <a:r>
              <a:rPr lang="hr-HR" sz="8000" dirty="0" err="1">
                <a:solidFill>
                  <a:schemeClr val="bg1"/>
                </a:solidFill>
              </a:rPr>
              <a:t>Brščić</a:t>
            </a:r>
            <a:r>
              <a:rPr lang="hr-HR" sz="8000" dirty="0">
                <a:solidFill>
                  <a:schemeClr val="bg1"/>
                </a:solidFill>
              </a:rPr>
              <a:t> 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hr-HR" sz="8000" dirty="0">
                <a:solidFill>
                  <a:schemeClr val="bg1"/>
                </a:solidFill>
              </a:rPr>
              <a:t>Ana Milanova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en-US" sz="8000" dirty="0">
                <a:solidFill>
                  <a:schemeClr val="bg1"/>
                </a:solidFill>
              </a:rPr>
              <a:t>Saša </a:t>
            </a:r>
            <a:r>
              <a:rPr lang="en-US" sz="8000" dirty="0" err="1">
                <a:solidFill>
                  <a:schemeClr val="bg1"/>
                </a:solidFill>
              </a:rPr>
              <a:t>Mladenović</a:t>
            </a:r>
            <a:r>
              <a:rPr lang="en-US" sz="8000" dirty="0">
                <a:solidFill>
                  <a:schemeClr val="bg1"/>
                </a:solidFill>
              </a:rPr>
              <a:t> </a:t>
            </a:r>
            <a:br>
              <a:rPr lang="hr-HR" sz="8000" dirty="0">
                <a:solidFill>
                  <a:schemeClr val="bg1"/>
                </a:solidFill>
              </a:rPr>
            </a:br>
            <a:endParaRPr lang="hr-HR" sz="80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2D552-8766-8ACB-4454-4A7D8F74D53C}"/>
              </a:ext>
            </a:extLst>
          </p:cNvPr>
          <p:cNvSpPr txBox="1"/>
          <p:nvPr/>
        </p:nvSpPr>
        <p:spPr>
          <a:xfrm>
            <a:off x="5363179" y="4341259"/>
            <a:ext cx="699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work is supported by the EU </a:t>
            </a:r>
            <a:r>
              <a:rPr lang="en-US" dirty="0" err="1">
                <a:solidFill>
                  <a:schemeClr val="bg1"/>
                </a:solidFill>
              </a:rPr>
              <a:t>NextGeneration</a:t>
            </a:r>
            <a:r>
              <a:rPr lang="en-US" dirty="0">
                <a:solidFill>
                  <a:schemeClr val="bg1"/>
                </a:solidFill>
              </a:rPr>
              <a:t> under the Juraj Dobrila University of Pula institutional research project EQUYSIS – Human-Centered System Design for Equitable and</a:t>
            </a:r>
          </a:p>
          <a:p>
            <a:r>
              <a:rPr lang="en-US" dirty="0">
                <a:solidFill>
                  <a:schemeClr val="bg1"/>
                </a:solidFill>
              </a:rPr>
              <a:t>Sustainable Digital Societies, project number IIP_UNIPU_010162.</a:t>
            </a:r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51D191-8A89-7AF1-D3C0-533926B6A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196" y="122548"/>
            <a:ext cx="3745868" cy="97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05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4869-A683-5C18-7D10-4955DEB24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b="1" dirty="0" err="1"/>
              <a:t>From</a:t>
            </a:r>
            <a:r>
              <a:rPr lang="hr-HR" b="1" dirty="0"/>
              <a:t> </a:t>
            </a:r>
            <a:r>
              <a:rPr lang="hr-HR" b="1" dirty="0" err="1"/>
              <a:t>technical</a:t>
            </a:r>
            <a:r>
              <a:rPr lang="hr-HR" b="1" dirty="0"/>
              <a:t> </a:t>
            </a:r>
            <a:r>
              <a:rPr lang="hr-HR" b="1" dirty="0" err="1"/>
              <a:t>success</a:t>
            </a:r>
            <a:r>
              <a:rPr lang="hr-HR" b="1" dirty="0"/>
              <a:t> to </a:t>
            </a:r>
            <a:r>
              <a:rPr lang="hr-HR" b="1" dirty="0" err="1"/>
              <a:t>sustainable</a:t>
            </a:r>
            <a:r>
              <a:rPr lang="hr-HR" b="1" dirty="0"/>
              <a:t> </a:t>
            </a:r>
            <a:r>
              <a:rPr lang="hr-HR" b="1" dirty="0" err="1"/>
              <a:t>adoption</a:t>
            </a:r>
            <a:br>
              <a:rPr lang="hr-HR" b="1" dirty="0"/>
            </a:b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7CB79-B8F4-6DA5-F4A1-7DF45A4EA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r-HR" b="1" dirty="0"/>
              <a:t>LLM </a:t>
            </a:r>
            <a:r>
              <a:rPr lang="hr-HR" b="1" dirty="0" err="1"/>
              <a:t>research</a:t>
            </a:r>
            <a:r>
              <a:rPr lang="hr-HR" b="1" dirty="0"/>
              <a:t> </a:t>
            </a:r>
            <a:r>
              <a:rPr lang="hr-HR" b="1" dirty="0" err="1"/>
              <a:t>tells</a:t>
            </a:r>
            <a:r>
              <a:rPr lang="hr-HR" b="1" dirty="0"/>
              <a:t> </a:t>
            </a:r>
            <a:r>
              <a:rPr lang="hr-HR" b="1" dirty="0" err="1"/>
              <a:t>us</a:t>
            </a:r>
            <a:r>
              <a:rPr lang="hr-HR" b="1" dirty="0"/>
              <a:t> </a:t>
            </a:r>
            <a:r>
              <a:rPr lang="hr-HR" b="1" dirty="0" err="1"/>
              <a:t>increasingly</a:t>
            </a:r>
            <a:r>
              <a:rPr lang="hr-HR" b="1" dirty="0"/>
              <a:t> </a:t>
            </a:r>
            <a:r>
              <a:rPr lang="hr-HR" b="1" dirty="0" err="1"/>
              <a:t>well</a:t>
            </a:r>
            <a:r>
              <a:rPr lang="hr-HR" b="1" dirty="0"/>
              <a:t> </a:t>
            </a: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models</a:t>
            </a:r>
            <a:r>
              <a:rPr lang="hr-HR" b="1" dirty="0"/>
              <a:t> </a:t>
            </a:r>
            <a:r>
              <a:rPr lang="hr-HR" b="1" dirty="0" err="1"/>
              <a:t>can</a:t>
            </a:r>
            <a:r>
              <a:rPr lang="hr-HR" b="1" dirty="0"/>
              <a:t> do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hr-HR" b="1" dirty="0" err="1"/>
              <a:t>We</a:t>
            </a:r>
            <a:r>
              <a:rPr lang="hr-HR" b="1" dirty="0"/>
              <a:t> </a:t>
            </a:r>
            <a:r>
              <a:rPr lang="hr-HR" b="1" dirty="0" err="1"/>
              <a:t>know</a:t>
            </a:r>
            <a:r>
              <a:rPr lang="hr-HR" b="1" dirty="0"/>
              <a:t> </a:t>
            </a:r>
            <a:r>
              <a:rPr lang="hr-HR" b="1" dirty="0" err="1"/>
              <a:t>much</a:t>
            </a:r>
            <a:r>
              <a:rPr lang="hr-HR" b="1" dirty="0"/>
              <a:t> </a:t>
            </a:r>
            <a:r>
              <a:rPr lang="hr-HR" b="1" dirty="0" err="1"/>
              <a:t>less</a:t>
            </a:r>
            <a:r>
              <a:rPr lang="hr-HR" b="1" dirty="0"/>
              <a:t> </a:t>
            </a:r>
            <a:r>
              <a:rPr lang="hr-HR" b="1" dirty="0" err="1"/>
              <a:t>about</a:t>
            </a:r>
            <a:r>
              <a:rPr lang="hr-HR" b="1" dirty="0"/>
              <a:t>:</a:t>
            </a:r>
          </a:p>
          <a:p>
            <a:pPr lvl="0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happens</a:t>
            </a:r>
            <a:r>
              <a:rPr lang="hr-HR" dirty="0"/>
              <a:t> </a:t>
            </a:r>
            <a:r>
              <a:rPr lang="hr-HR" dirty="0" err="1"/>
              <a:t>when</a:t>
            </a:r>
            <a:r>
              <a:rPr lang="hr-HR" dirty="0"/>
              <a:t> </a:t>
            </a:r>
            <a:r>
              <a:rPr lang="en-US" dirty="0"/>
              <a:t>LLMs</a:t>
            </a:r>
            <a:r>
              <a:rPr lang="hr-HR" dirty="0"/>
              <a:t> </a:t>
            </a:r>
            <a:r>
              <a:rPr lang="hr-HR" dirty="0" err="1"/>
              <a:t>enter</a:t>
            </a:r>
            <a:r>
              <a:rPr lang="hr-HR" dirty="0"/>
              <a:t> </a:t>
            </a:r>
            <a:r>
              <a:rPr lang="hr-HR" dirty="0" err="1"/>
              <a:t>real</a:t>
            </a:r>
            <a:r>
              <a:rPr lang="hr-HR" dirty="0"/>
              <a:t> </a:t>
            </a:r>
            <a:r>
              <a:rPr lang="hr-HR" dirty="0" err="1"/>
              <a:t>workflows</a:t>
            </a:r>
            <a:r>
              <a:rPr lang="hr-HR" dirty="0"/>
              <a:t>; </a:t>
            </a:r>
          </a:p>
          <a:p>
            <a:pPr lvl="0"/>
            <a:r>
              <a:rPr lang="hr-HR" dirty="0"/>
              <a:t>how </a:t>
            </a:r>
            <a:r>
              <a:rPr lang="hr-HR" dirty="0" err="1"/>
              <a:t>people</a:t>
            </a:r>
            <a:r>
              <a:rPr lang="hr-HR" dirty="0"/>
              <a:t> </a:t>
            </a:r>
            <a:r>
              <a:rPr lang="hr-HR" dirty="0" err="1"/>
              <a:t>adapt</a:t>
            </a:r>
            <a:r>
              <a:rPr lang="hr-HR" dirty="0"/>
              <a:t> to </a:t>
            </a:r>
            <a:r>
              <a:rPr lang="hr-HR" dirty="0" err="1"/>
              <a:t>them</a:t>
            </a:r>
            <a:r>
              <a:rPr lang="hr-HR" dirty="0"/>
              <a:t>; </a:t>
            </a:r>
          </a:p>
          <a:p>
            <a:pPr lvl="0"/>
            <a:r>
              <a:rPr lang="hr-HR" dirty="0"/>
              <a:t>how </a:t>
            </a:r>
            <a:r>
              <a:rPr lang="hr-HR" dirty="0" err="1"/>
              <a:t>responsibilities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roles</a:t>
            </a:r>
            <a:r>
              <a:rPr lang="hr-HR" dirty="0"/>
              <a:t> </a:t>
            </a:r>
            <a:r>
              <a:rPr lang="hr-HR" dirty="0" err="1"/>
              <a:t>change</a:t>
            </a:r>
            <a:r>
              <a:rPr lang="hr-HR" dirty="0"/>
              <a:t>; </a:t>
            </a:r>
          </a:p>
          <a:p>
            <a:pPr lvl="0"/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organizational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 </a:t>
            </a:r>
            <a:r>
              <a:rPr lang="hr-HR" dirty="0" err="1"/>
              <a:t>matter</a:t>
            </a:r>
            <a:r>
              <a:rPr lang="hr-HR" dirty="0"/>
              <a:t>; </a:t>
            </a:r>
          </a:p>
          <a:p>
            <a:pPr lvl="0"/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findings</a:t>
            </a:r>
            <a:r>
              <a:rPr lang="hr-HR" dirty="0"/>
              <a:t> </a:t>
            </a:r>
            <a:r>
              <a:rPr lang="hr-HR" dirty="0" err="1"/>
              <a:t>generalize</a:t>
            </a:r>
            <a:r>
              <a:rPr lang="hr-HR" dirty="0"/>
              <a:t> </a:t>
            </a:r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domains</a:t>
            </a:r>
            <a:r>
              <a:rPr lang="hr-HR" dirty="0"/>
              <a:t>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makes</a:t>
            </a:r>
            <a:r>
              <a:rPr lang="hr-HR" b="1" dirty="0"/>
              <a:t> </a:t>
            </a:r>
            <a:r>
              <a:rPr lang="hr-HR" b="1" dirty="0" err="1"/>
              <a:t>an</a:t>
            </a:r>
            <a:r>
              <a:rPr lang="hr-HR" b="1" dirty="0"/>
              <a:t> LLM </a:t>
            </a:r>
            <a:r>
              <a:rPr lang="hr-HR" b="1" dirty="0" err="1"/>
              <a:t>application</a:t>
            </a:r>
            <a:r>
              <a:rPr lang="hr-HR" b="1" dirty="0"/>
              <a:t> </a:t>
            </a:r>
            <a:r>
              <a:rPr lang="hr-HR" b="1" dirty="0" err="1"/>
              <a:t>adoptable</a:t>
            </a:r>
            <a:r>
              <a:rPr lang="hr-HR" b="1" dirty="0"/>
              <a:t> — </a:t>
            </a:r>
            <a:r>
              <a:rPr lang="hr-HR" b="1" dirty="0" err="1"/>
              <a:t>not</a:t>
            </a:r>
            <a:r>
              <a:rPr lang="hr-HR" b="1" dirty="0"/>
              <a:t> </a:t>
            </a:r>
            <a:r>
              <a:rPr lang="hr-HR" b="1" dirty="0" err="1"/>
              <a:t>merely</a:t>
            </a:r>
            <a:r>
              <a:rPr lang="hr-HR" b="1" dirty="0"/>
              <a:t> </a:t>
            </a:r>
            <a:r>
              <a:rPr lang="hr-HR" b="1" dirty="0" err="1"/>
              <a:t>technically</a:t>
            </a:r>
            <a:r>
              <a:rPr lang="hr-HR" b="1" dirty="0"/>
              <a:t> </a:t>
            </a:r>
            <a:r>
              <a:rPr lang="hr-HR" b="1" dirty="0" err="1"/>
              <a:t>successful</a:t>
            </a:r>
            <a:r>
              <a:rPr lang="hr-HR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5034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8F65-F0D7-6184-79F3-39D7F549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From</a:t>
            </a:r>
            <a:r>
              <a:rPr lang="hr-HR" dirty="0"/>
              <a:t> MIPRO to SOFTCOM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24B78-41F4-FB14-D149-B94CA1BF2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72598"/>
          </a:xfrm>
        </p:spPr>
        <p:txBody>
          <a:bodyPr>
            <a:normAutofit fontScale="70000" lnSpcReduction="20000"/>
          </a:bodyPr>
          <a:lstStyle/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MIPRO 2026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Initial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Pilot Workshop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responses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Expert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Reflection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HRI + SE/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trustworthy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AI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perspectives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SOFTCOM 2026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Cross-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refinement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Extended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Studies</a:t>
            </a: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Cross-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synthesis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repeated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workshop.</a:t>
            </a:r>
          </a:p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SOFTCOM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empirical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iteration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initiative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920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4E19-2E98-7869-71E9-7403E777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What</a:t>
            </a:r>
            <a:r>
              <a:rPr lang="hr-HR" dirty="0"/>
              <a:t> are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trying</a:t>
            </a:r>
            <a:r>
              <a:rPr lang="hr-HR" dirty="0"/>
              <a:t> to </a:t>
            </a:r>
            <a:r>
              <a:rPr lang="hr-HR" dirty="0" err="1"/>
              <a:t>build</a:t>
            </a:r>
            <a:r>
              <a:rPr lang="hr-H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ED8F4-23E6-8F79-C53B-DEE76835E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41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b="1" dirty="0"/>
              <a:t>1. </a:t>
            </a:r>
            <a:r>
              <a:rPr lang="hr-HR" b="1" dirty="0" err="1"/>
              <a:t>Common</a:t>
            </a:r>
            <a:r>
              <a:rPr lang="hr-HR" b="1" dirty="0"/>
              <a:t> </a:t>
            </a:r>
            <a:r>
              <a:rPr lang="hr-HR" b="1" dirty="0" err="1"/>
              <a:t>reporting</a:t>
            </a:r>
            <a:r>
              <a:rPr lang="hr-HR" b="1" dirty="0"/>
              <a:t> </a:t>
            </a:r>
            <a:r>
              <a:rPr lang="hr-HR" b="1" dirty="0" err="1"/>
              <a:t>structure</a:t>
            </a:r>
            <a:endParaRPr lang="hr-HR" b="1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hr-HR" dirty="0"/>
              <a:t>How </a:t>
            </a:r>
            <a:r>
              <a:rPr lang="hr-HR" dirty="0" err="1"/>
              <a:t>can</a:t>
            </a:r>
            <a:r>
              <a:rPr lang="hr-HR" dirty="0"/>
              <a:t> LLM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described</a:t>
            </a:r>
            <a:r>
              <a:rPr lang="hr-HR" dirty="0"/>
              <a:t> </a:t>
            </a:r>
            <a:r>
              <a:rPr lang="hr-HR" dirty="0" err="1"/>
              <a:t>comparably</a:t>
            </a:r>
            <a:r>
              <a:rPr lang="hr-HR" dirty="0"/>
              <a:t>?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b="1" dirty="0"/>
              <a:t>2. Cross-</a:t>
            </a:r>
            <a:r>
              <a:rPr lang="hr-HR" b="1" dirty="0" err="1"/>
              <a:t>domain</a:t>
            </a:r>
            <a:r>
              <a:rPr lang="hr-HR" b="1" dirty="0"/>
              <a:t> </a:t>
            </a:r>
            <a:r>
              <a:rPr lang="hr-HR" b="1" dirty="0" err="1"/>
              <a:t>analytical</a:t>
            </a:r>
            <a:r>
              <a:rPr lang="hr-HR" b="1" dirty="0"/>
              <a:t> </a:t>
            </a:r>
            <a:r>
              <a:rPr lang="hr-HR" b="1" dirty="0" err="1"/>
              <a:t>framework</a:t>
            </a:r>
            <a:endParaRPr lang="hr-HR" b="1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challenges</a:t>
            </a:r>
            <a:r>
              <a:rPr lang="hr-HR" dirty="0"/>
              <a:t>, </a:t>
            </a:r>
            <a:r>
              <a:rPr lang="hr-HR" dirty="0" err="1"/>
              <a:t>benefits</a:t>
            </a:r>
            <a:r>
              <a:rPr lang="en-US" dirty="0"/>
              <a:t>,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 </a:t>
            </a:r>
            <a:r>
              <a:rPr lang="hr-HR" dirty="0" err="1"/>
              <a:t>recur</a:t>
            </a:r>
            <a:r>
              <a:rPr lang="hr-HR" dirty="0"/>
              <a:t>?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b="1" dirty="0"/>
              <a:t>3. </a:t>
            </a:r>
            <a:r>
              <a:rPr lang="hr-HR" b="1" dirty="0" err="1"/>
              <a:t>Evidence-based</a:t>
            </a:r>
            <a:r>
              <a:rPr lang="hr-HR" b="1" dirty="0"/>
              <a:t> </a:t>
            </a:r>
            <a:r>
              <a:rPr lang="hr-HR" b="1" dirty="0" err="1"/>
              <a:t>adoption</a:t>
            </a:r>
            <a:r>
              <a:rPr lang="hr-HR" b="1" dirty="0"/>
              <a:t> </a:t>
            </a:r>
            <a:r>
              <a:rPr lang="hr-HR" b="1" dirty="0" err="1"/>
              <a:t>guidance</a:t>
            </a:r>
            <a:endParaRPr lang="hr-HR" b="1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organizations</a:t>
            </a:r>
            <a:r>
              <a:rPr lang="hr-HR" dirty="0"/>
              <a:t> </a:t>
            </a:r>
            <a:r>
              <a:rPr lang="hr-HR" dirty="0" err="1"/>
              <a:t>learn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reproduce</a:t>
            </a:r>
            <a:r>
              <a:rPr lang="hr-HR" dirty="0"/>
              <a:t>?</a:t>
            </a:r>
            <a:endParaRPr lang="en-US" dirty="0"/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b="1" dirty="0" err="1"/>
              <a:t>Today</a:t>
            </a:r>
            <a:r>
              <a:rPr lang="hr-HR" b="1" dirty="0"/>
              <a:t> </a:t>
            </a:r>
            <a:r>
              <a:rPr lang="hr-HR" b="1" dirty="0" err="1"/>
              <a:t>we</a:t>
            </a:r>
            <a:r>
              <a:rPr lang="hr-HR" b="1" dirty="0"/>
              <a:t> are </a:t>
            </a:r>
            <a:r>
              <a:rPr lang="hr-HR" b="1" dirty="0" err="1"/>
              <a:t>primarily</a:t>
            </a:r>
            <a:r>
              <a:rPr lang="hr-HR" b="1" dirty="0"/>
              <a:t> </a:t>
            </a:r>
            <a:r>
              <a:rPr lang="hr-HR" b="1" dirty="0" err="1"/>
              <a:t>working</a:t>
            </a:r>
            <a:r>
              <a:rPr lang="hr-HR" b="1" dirty="0"/>
              <a:t> </a:t>
            </a:r>
            <a:r>
              <a:rPr lang="hr-HR" b="1" dirty="0" err="1"/>
              <a:t>between</a:t>
            </a:r>
            <a:r>
              <a:rPr lang="hr-HR" b="1" dirty="0"/>
              <a:t> </a:t>
            </a:r>
            <a:r>
              <a:rPr lang="hr-HR" b="1" dirty="0" err="1"/>
              <a:t>Levels</a:t>
            </a:r>
            <a:r>
              <a:rPr lang="hr-HR" b="1" dirty="0"/>
              <a:t> 1 </a:t>
            </a:r>
            <a:r>
              <a:rPr lang="hr-HR" b="1" dirty="0" err="1"/>
              <a:t>and</a:t>
            </a:r>
            <a:r>
              <a:rPr lang="hr-HR" b="1" dirty="0"/>
              <a:t> 2.</a:t>
            </a:r>
            <a:endParaRPr lang="hr-HR" dirty="0"/>
          </a:p>
          <a:p>
            <a:pPr marL="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4449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288F-15DC-CF44-06BB-8A1A5074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Socio-Technical</a:t>
            </a:r>
            <a:r>
              <a:rPr lang="hr-HR" dirty="0"/>
              <a:t> </a:t>
            </a:r>
            <a:r>
              <a:rPr lang="hr-HR" dirty="0" err="1"/>
              <a:t>Perspective</a:t>
            </a:r>
            <a:endParaRPr lang="hr-H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9C989-FA4C-25AD-6E4F-9A80B479F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LLMs</a:t>
            </a:r>
            <a:r>
              <a:rPr lang="hr-HR" dirty="0"/>
              <a:t> are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isolated</a:t>
            </a:r>
            <a:r>
              <a:rPr lang="hr-HR" dirty="0"/>
              <a:t> </a:t>
            </a:r>
            <a:r>
              <a:rPr lang="hr-HR" dirty="0" err="1"/>
              <a:t>tools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FC63-7169-CF13-2B11-7B230C6E93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hr-HR" dirty="0" err="1"/>
              <a:t>They</a:t>
            </a:r>
            <a:r>
              <a:rPr lang="hr-HR" dirty="0"/>
              <a:t> </a:t>
            </a:r>
            <a:r>
              <a:rPr lang="hr-HR" dirty="0" err="1"/>
              <a:t>operate</a:t>
            </a:r>
            <a:r>
              <a:rPr lang="hr-HR" dirty="0"/>
              <a:t> </a:t>
            </a:r>
            <a:r>
              <a:rPr lang="hr-HR" dirty="0" err="1"/>
              <a:t>within</a:t>
            </a:r>
            <a:r>
              <a:rPr lang="hr-HR" dirty="0"/>
              <a:t>:</a:t>
            </a:r>
          </a:p>
          <a:p>
            <a:pPr lvl="1"/>
            <a:r>
              <a:rPr lang="hr-HR" dirty="0"/>
              <a:t>human </a:t>
            </a:r>
            <a:r>
              <a:rPr lang="hr-HR" dirty="0" err="1"/>
              <a:t>workflows</a:t>
            </a:r>
            <a:r>
              <a:rPr lang="hr-HR" dirty="0"/>
              <a:t> </a:t>
            </a:r>
          </a:p>
          <a:p>
            <a:pPr lvl="1"/>
            <a:r>
              <a:rPr lang="hr-HR" dirty="0" err="1"/>
              <a:t>organizational</a:t>
            </a:r>
            <a:r>
              <a:rPr lang="hr-HR" dirty="0"/>
              <a:t> </a:t>
            </a:r>
            <a:r>
              <a:rPr lang="hr-HR" dirty="0" err="1"/>
              <a:t>structures</a:t>
            </a:r>
            <a:r>
              <a:rPr lang="hr-HR" dirty="0"/>
              <a:t> </a:t>
            </a:r>
          </a:p>
          <a:p>
            <a:pPr lvl="1"/>
            <a:r>
              <a:rPr lang="hr-HR" dirty="0" err="1"/>
              <a:t>regulatory</a:t>
            </a:r>
            <a:r>
              <a:rPr lang="hr-HR" dirty="0"/>
              <a:t> </a:t>
            </a:r>
            <a:r>
              <a:rPr lang="hr-HR" dirty="0" err="1"/>
              <a:t>constraints</a:t>
            </a:r>
            <a:r>
              <a:rPr lang="hr-HR" dirty="0"/>
              <a:t> </a:t>
            </a:r>
          </a:p>
          <a:p>
            <a:pPr lvl="1"/>
            <a:r>
              <a:rPr lang="hr-HR" dirty="0" err="1"/>
              <a:t>collaborative</a:t>
            </a:r>
            <a:r>
              <a:rPr lang="hr-HR" dirty="0"/>
              <a:t> </a:t>
            </a:r>
            <a:r>
              <a:rPr lang="hr-HR" dirty="0" err="1"/>
              <a:t>decision-making</a:t>
            </a:r>
            <a:r>
              <a:rPr lang="hr-HR" dirty="0"/>
              <a:t> </a:t>
            </a:r>
          </a:p>
          <a:p>
            <a:pPr lvl="1"/>
            <a:r>
              <a:rPr lang="hr-HR" dirty="0"/>
              <a:t>software-</a:t>
            </a:r>
            <a:r>
              <a:rPr lang="hr-HR" dirty="0" err="1"/>
              <a:t>intensive</a:t>
            </a:r>
            <a:r>
              <a:rPr lang="hr-HR" dirty="0"/>
              <a:t> </a:t>
            </a:r>
            <a:r>
              <a:rPr lang="hr-HR" dirty="0" err="1"/>
              <a:t>ecosystems</a:t>
            </a:r>
            <a:r>
              <a:rPr lang="hr-HR" dirty="0"/>
              <a:t> </a:t>
            </a:r>
          </a:p>
          <a:p>
            <a:endParaRPr lang="hr-H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FD46E-901A-A561-26B6-22BFC7414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r-HR" dirty="0"/>
              <a:t>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requires</a:t>
            </a:r>
            <a:r>
              <a:rPr lang="hr-HR" dirty="0"/>
              <a:t>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4D9F6-E245-7E54-DE05-EAB7A30F658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hr-HR" dirty="0"/>
              <a:t>trust </a:t>
            </a:r>
          </a:p>
          <a:p>
            <a:r>
              <a:rPr lang="hr-HR" dirty="0" err="1"/>
              <a:t>transparency</a:t>
            </a:r>
            <a:r>
              <a:rPr lang="hr-HR" dirty="0"/>
              <a:t> </a:t>
            </a:r>
          </a:p>
          <a:p>
            <a:r>
              <a:rPr lang="hr-HR" dirty="0"/>
              <a:t>human </a:t>
            </a:r>
            <a:r>
              <a:rPr lang="hr-HR" dirty="0" err="1"/>
              <a:t>agency</a:t>
            </a:r>
            <a:r>
              <a:rPr lang="hr-HR" dirty="0"/>
              <a:t> </a:t>
            </a:r>
          </a:p>
          <a:p>
            <a:r>
              <a:rPr lang="hr-HR" dirty="0" err="1"/>
              <a:t>accountability</a:t>
            </a:r>
            <a:r>
              <a:rPr lang="hr-HR" dirty="0"/>
              <a:t> </a:t>
            </a:r>
          </a:p>
          <a:p>
            <a:r>
              <a:rPr lang="hr-HR" dirty="0" err="1"/>
              <a:t>sustainable</a:t>
            </a:r>
            <a:r>
              <a:rPr lang="hr-HR" dirty="0"/>
              <a:t> </a:t>
            </a:r>
            <a:r>
              <a:rPr lang="hr-HR" dirty="0" err="1"/>
              <a:t>integration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42599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A9CD-ACE4-7DAC-42D9-E2F9B86D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Proposed</a:t>
            </a:r>
            <a:r>
              <a:rPr lang="hr-HR" dirty="0"/>
              <a:t> </a:t>
            </a:r>
            <a:r>
              <a:rPr lang="hr-HR" dirty="0" err="1"/>
              <a:t>Analytical</a:t>
            </a:r>
            <a:r>
              <a:rPr lang="hr-HR" dirty="0"/>
              <a:t>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64C45-CAA3-D745-FBEB-779E15073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r-HR" b="1" dirty="0"/>
              <a:t>9 Core </a:t>
            </a:r>
            <a:r>
              <a:rPr lang="hr-HR" b="1" dirty="0" err="1"/>
              <a:t>Dimensions</a:t>
            </a:r>
            <a:r>
              <a:rPr lang="hr-HR" b="1" dirty="0"/>
              <a:t> for </a:t>
            </a:r>
            <a:r>
              <a:rPr lang="hr-HR" b="1" dirty="0" err="1"/>
              <a:t>Analysis</a:t>
            </a:r>
            <a:r>
              <a:rPr lang="en-US" b="1" dirty="0"/>
              <a:t> across domains</a:t>
            </a:r>
            <a:endParaRPr lang="hr-HR" b="1" dirty="0"/>
          </a:p>
          <a:p>
            <a:pPr lvl="1"/>
            <a:r>
              <a:rPr lang="en-US" dirty="0"/>
              <a:t>A Problem - What is being solved?</a:t>
            </a:r>
          </a:p>
          <a:p>
            <a:pPr lvl="1"/>
            <a:r>
              <a:rPr lang="en-US" dirty="0"/>
              <a:t>B Solution - How is it solved?</a:t>
            </a:r>
          </a:p>
          <a:p>
            <a:pPr lvl="1"/>
            <a:r>
              <a:rPr lang="en-US" dirty="0"/>
              <a:t>C Human Interaction - How do humans engage?</a:t>
            </a:r>
          </a:p>
          <a:p>
            <a:pPr lvl="1"/>
            <a:r>
              <a:rPr lang="en-US" dirty="0"/>
              <a:t>D Context - Under what conditions?</a:t>
            </a:r>
          </a:p>
          <a:p>
            <a:pPr lvl="1"/>
            <a:r>
              <a:rPr lang="en-US" dirty="0"/>
              <a:t>E Evaluation - What is the effect?</a:t>
            </a:r>
          </a:p>
          <a:p>
            <a:pPr lvl="1"/>
            <a:r>
              <a:rPr lang="en-US" dirty="0"/>
              <a:t>F Challenges - What limits it?</a:t>
            </a:r>
          </a:p>
          <a:p>
            <a:pPr lvl="1"/>
            <a:r>
              <a:rPr lang="en-US" dirty="0"/>
              <a:t>G Benefits - What value is created?</a:t>
            </a:r>
          </a:p>
          <a:p>
            <a:pPr lvl="1"/>
            <a:r>
              <a:rPr lang="hr-HR" dirty="0"/>
              <a:t>H </a:t>
            </a:r>
            <a:r>
              <a:rPr lang="hr-HR" dirty="0" err="1"/>
              <a:t>Transferability</a:t>
            </a:r>
            <a:r>
              <a:rPr lang="hr-HR" dirty="0"/>
              <a:t> -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generalizes</a:t>
            </a:r>
            <a:r>
              <a:rPr lang="hr-HR" dirty="0"/>
              <a:t>?</a:t>
            </a:r>
          </a:p>
          <a:p>
            <a:pPr lvl="1"/>
            <a:r>
              <a:rPr lang="en-US" dirty="0"/>
              <a:t>I Process - How to reproduce it? </a:t>
            </a:r>
          </a:p>
          <a:p>
            <a:pPr marL="0" indent="0">
              <a:buNone/>
            </a:pPr>
            <a:r>
              <a:rPr lang="en-US" b="1" dirty="0"/>
              <a:t>Goal: </a:t>
            </a:r>
            <a:r>
              <a:rPr lang="hr-HR" b="1" dirty="0" err="1"/>
              <a:t>comparable</a:t>
            </a:r>
            <a:r>
              <a:rPr lang="hr-HR" b="1" dirty="0"/>
              <a:t> </a:t>
            </a:r>
            <a:r>
              <a:rPr lang="hr-HR" b="1" dirty="0" err="1"/>
              <a:t>and</a:t>
            </a:r>
            <a:r>
              <a:rPr lang="hr-HR" b="1" dirty="0"/>
              <a:t> </a:t>
            </a:r>
            <a:r>
              <a:rPr lang="hr-HR" b="1" dirty="0" err="1"/>
              <a:t>cumulative</a:t>
            </a:r>
            <a:r>
              <a:rPr lang="hr-HR" b="1" dirty="0"/>
              <a:t> </a:t>
            </a:r>
            <a:r>
              <a:rPr lang="hr-HR" b="1" dirty="0" err="1"/>
              <a:t>knowledge</a:t>
            </a:r>
            <a:r>
              <a:rPr lang="hr-HR" b="1" dirty="0"/>
              <a:t> </a:t>
            </a:r>
            <a:r>
              <a:rPr lang="hr-HR" b="1" dirty="0" err="1"/>
              <a:t>across</a:t>
            </a:r>
            <a:r>
              <a:rPr lang="hr-HR" b="1" dirty="0"/>
              <a:t> </a:t>
            </a:r>
            <a:r>
              <a:rPr lang="hr-HR" b="1" dirty="0" err="1"/>
              <a:t>domains</a:t>
            </a:r>
            <a:endParaRPr lang="en-US" b="1" dirty="0"/>
          </a:p>
          <a:p>
            <a:pPr marL="0" indent="0">
              <a:buNone/>
            </a:pPr>
            <a:r>
              <a:rPr lang="hr-HR" b="1" dirty="0" err="1"/>
              <a:t>Not</a:t>
            </a:r>
            <a:r>
              <a:rPr lang="hr-HR" b="1" dirty="0"/>
              <a:t> a </a:t>
            </a:r>
            <a:r>
              <a:rPr lang="hr-HR" b="1" dirty="0" err="1"/>
              <a:t>final</a:t>
            </a:r>
            <a:r>
              <a:rPr lang="hr-HR" b="1" dirty="0"/>
              <a:t> </a:t>
            </a:r>
            <a:r>
              <a:rPr lang="hr-HR" b="1" dirty="0" err="1"/>
              <a:t>framework</a:t>
            </a:r>
            <a:r>
              <a:rPr lang="hr-HR" b="1" dirty="0"/>
              <a:t>. A </a:t>
            </a:r>
            <a:r>
              <a:rPr lang="hr-HR" b="1" dirty="0" err="1"/>
              <a:t>common</a:t>
            </a:r>
            <a:r>
              <a:rPr lang="hr-HR" b="1" dirty="0"/>
              <a:t> reference </a:t>
            </a:r>
            <a:r>
              <a:rPr lang="hr-HR" b="1" dirty="0" err="1"/>
              <a:t>point</a:t>
            </a:r>
            <a:r>
              <a:rPr lang="hr-HR" b="1" dirty="0"/>
              <a:t> for </a:t>
            </a:r>
            <a:r>
              <a:rPr lang="hr-HR" b="1" dirty="0" err="1"/>
              <a:t>comparison</a:t>
            </a:r>
            <a:r>
              <a:rPr lang="hr-HR" b="1" dirty="0"/>
              <a:t> </a:t>
            </a:r>
            <a:r>
              <a:rPr lang="hr-HR" b="1" dirty="0" err="1"/>
              <a:t>and</a:t>
            </a:r>
            <a:r>
              <a:rPr lang="hr-HR" b="1" dirty="0"/>
              <a:t> </a:t>
            </a:r>
            <a:r>
              <a:rPr lang="hr-HR" b="1" dirty="0" err="1"/>
              <a:t>discussion</a:t>
            </a:r>
            <a:r>
              <a:rPr lang="hr-HR" b="1" dirty="0"/>
              <a:t>.</a:t>
            </a:r>
          </a:p>
          <a:p>
            <a:pPr marL="514350" indent="-514350">
              <a:buAutoNum type="alphaUcPeriod"/>
            </a:pP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1432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CE0D-4BB4-E1AD-B430-68280DDB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/>
              <a:t>A </a:t>
            </a:r>
            <a:r>
              <a:rPr lang="hr-HR" dirty="0" err="1"/>
              <a:t>question</a:t>
            </a:r>
            <a:r>
              <a:rPr lang="hr-HR" dirty="0"/>
              <a:t> </a:t>
            </a:r>
            <a:r>
              <a:rPr lang="hr-HR" dirty="0" err="1"/>
              <a:t>emerging</a:t>
            </a:r>
            <a:r>
              <a:rPr lang="hr-HR" dirty="0"/>
              <a:t> </a:t>
            </a:r>
            <a:r>
              <a:rPr lang="hr-HR" dirty="0" err="1"/>
              <a:t>after</a:t>
            </a:r>
            <a:r>
              <a:rPr lang="hr-HR" dirty="0"/>
              <a:t> MIPRO</a:t>
            </a:r>
            <a:r>
              <a:rPr lang="en-US" dirty="0"/>
              <a:t>:</a:t>
            </a:r>
            <a:br>
              <a:rPr lang="en-US" dirty="0"/>
            </a:br>
            <a:r>
              <a:rPr lang="hr-HR" b="1" dirty="0"/>
              <a:t>Are </a:t>
            </a:r>
            <a:r>
              <a:rPr lang="hr-HR" b="1" dirty="0" err="1"/>
              <a:t>we</a:t>
            </a:r>
            <a:r>
              <a:rPr lang="hr-HR" b="1" dirty="0"/>
              <a:t> human-</a:t>
            </a:r>
            <a:r>
              <a:rPr lang="hr-HR" b="1" dirty="0" err="1"/>
              <a:t>centered</a:t>
            </a:r>
            <a:r>
              <a:rPr lang="hr-HR" b="1" dirty="0"/>
              <a:t> </a:t>
            </a:r>
            <a:r>
              <a:rPr lang="hr-HR" b="1" dirty="0" err="1"/>
              <a:t>enough</a:t>
            </a:r>
            <a:r>
              <a:rPr lang="hr-HR" b="1" dirty="0"/>
              <a:t>?</a:t>
            </a:r>
            <a:br>
              <a:rPr lang="hr-HR" b="1" dirty="0"/>
            </a:br>
            <a:endParaRPr lang="hr-H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48C7E-42DB-7FE6-B413-163B394F1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System-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question</a:t>
            </a:r>
            <a:endParaRPr lang="hr-HR" dirty="0"/>
          </a:p>
          <a:p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D6FF-86E1-CB8D-73DB-AA68F8D0AA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hr-HR" dirty="0"/>
          </a:p>
          <a:p>
            <a:r>
              <a:rPr lang="hr-HR" dirty="0"/>
              <a:t>How do </a:t>
            </a:r>
            <a:r>
              <a:rPr lang="hr-HR" dirty="0" err="1"/>
              <a:t>humans</a:t>
            </a:r>
            <a:r>
              <a:rPr lang="hr-HR" dirty="0"/>
              <a:t> </a:t>
            </a:r>
            <a:r>
              <a:rPr lang="hr-HR" dirty="0" err="1"/>
              <a:t>interact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system?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A9EAD-F695-CDC9-CF02-AD69AFB6D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r-HR" dirty="0"/>
              <a:t>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questions</a:t>
            </a:r>
            <a:endParaRPr lang="hr-HR" dirty="0"/>
          </a:p>
          <a:p>
            <a:endParaRPr lang="hr-H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9A181-49D0-3C0A-87F8-35679803E3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hr-HR" dirty="0" err="1"/>
              <a:t>What</a:t>
            </a:r>
            <a:r>
              <a:rPr lang="hr-HR" dirty="0"/>
              <a:t> do </a:t>
            </a:r>
            <a:r>
              <a:rPr lang="hr-HR" dirty="0" err="1"/>
              <a:t>people</a:t>
            </a:r>
            <a:r>
              <a:rPr lang="hr-HR" dirty="0"/>
              <a:t> </a:t>
            </a:r>
            <a:r>
              <a:rPr lang="hr-HR" dirty="0" err="1"/>
              <a:t>need</a:t>
            </a:r>
            <a:r>
              <a:rPr lang="hr-HR" dirty="0"/>
              <a:t>?</a:t>
            </a:r>
            <a:br>
              <a:rPr lang="hr-HR" dirty="0"/>
            </a:br>
            <a:r>
              <a:rPr lang="hr-HR" dirty="0"/>
              <a:t>How do </a:t>
            </a:r>
            <a:r>
              <a:rPr lang="hr-HR" dirty="0" err="1"/>
              <a:t>they</a:t>
            </a:r>
            <a:r>
              <a:rPr lang="hr-HR" dirty="0"/>
              <a:t> </a:t>
            </a:r>
            <a:r>
              <a:rPr lang="hr-HR" dirty="0" err="1"/>
              <a:t>experience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system?</a:t>
            </a:r>
            <a:br>
              <a:rPr lang="hr-HR" dirty="0"/>
            </a:b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agency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control</a:t>
            </a:r>
            <a:r>
              <a:rPr lang="hr-HR" dirty="0"/>
              <a:t> do </a:t>
            </a:r>
            <a:r>
              <a:rPr lang="hr-HR" dirty="0" err="1"/>
              <a:t>they</a:t>
            </a:r>
            <a:r>
              <a:rPr lang="hr-HR" dirty="0"/>
              <a:t> </a:t>
            </a:r>
            <a:r>
              <a:rPr lang="hr-HR" dirty="0" err="1"/>
              <a:t>retain</a:t>
            </a:r>
            <a:r>
              <a:rPr lang="hr-HR" dirty="0"/>
              <a:t>?</a:t>
            </a:r>
            <a:br>
              <a:rPr lang="hr-HR" dirty="0"/>
            </a:br>
            <a:r>
              <a:rPr lang="hr-HR" dirty="0"/>
              <a:t>How </a:t>
            </a:r>
            <a:r>
              <a:rPr lang="hr-HR" dirty="0" err="1"/>
              <a:t>does</a:t>
            </a:r>
            <a:r>
              <a:rPr lang="hr-HR" dirty="0"/>
              <a:t> AI </a:t>
            </a:r>
            <a:r>
              <a:rPr lang="hr-HR" dirty="0" err="1"/>
              <a:t>change</a:t>
            </a:r>
            <a:r>
              <a:rPr lang="hr-HR" dirty="0"/>
              <a:t> </a:t>
            </a:r>
            <a:r>
              <a:rPr lang="hr-HR" dirty="0" err="1"/>
              <a:t>their</a:t>
            </a:r>
            <a:r>
              <a:rPr lang="hr-HR" dirty="0"/>
              <a:t> </a:t>
            </a:r>
            <a:r>
              <a:rPr lang="hr-HR" dirty="0" err="1"/>
              <a:t>roles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practices</a:t>
            </a:r>
            <a:r>
              <a:rPr lang="hr-HR" dirty="0"/>
              <a:t>?</a:t>
            </a:r>
            <a:br>
              <a:rPr lang="hr-HR" dirty="0"/>
            </a:br>
            <a:r>
              <a:rPr lang="hr-HR" dirty="0"/>
              <a:t>Who </a:t>
            </a:r>
            <a:r>
              <a:rPr lang="hr-HR" dirty="0" err="1"/>
              <a:t>benefits</a:t>
            </a:r>
            <a:r>
              <a:rPr lang="hr-HR" dirty="0"/>
              <a:t> —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who</a:t>
            </a:r>
            <a:r>
              <a:rPr lang="hr-HR" dirty="0"/>
              <a:t> </a:t>
            </a:r>
            <a:r>
              <a:rPr lang="hr-HR" dirty="0" err="1"/>
              <a:t>bears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cost</a:t>
            </a:r>
            <a:r>
              <a:rPr lang="hr-HR" dirty="0"/>
              <a:t>?</a:t>
            </a:r>
          </a:p>
          <a:p>
            <a:endParaRPr lang="hr-H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6C83E-8497-FBCE-0A79-AAA56917535B}"/>
              </a:ext>
            </a:extLst>
          </p:cNvPr>
          <p:cNvSpPr txBox="1"/>
          <p:nvPr/>
        </p:nvSpPr>
        <p:spPr>
          <a:xfrm>
            <a:off x="113647" y="6193679"/>
            <a:ext cx="11677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600" b="1" dirty="0" err="1"/>
              <a:t>Is</a:t>
            </a:r>
            <a:r>
              <a:rPr lang="hr-HR" sz="2600" b="1" dirty="0"/>
              <a:t> “human-</a:t>
            </a:r>
            <a:r>
              <a:rPr lang="hr-HR" sz="2600" b="1" dirty="0" err="1"/>
              <a:t>centered</a:t>
            </a:r>
            <a:r>
              <a:rPr lang="hr-HR" sz="2600" b="1" dirty="0"/>
              <a:t>” one </a:t>
            </a:r>
            <a:r>
              <a:rPr lang="hr-HR" sz="2600" b="1" dirty="0" err="1"/>
              <a:t>dimension</a:t>
            </a:r>
            <a:r>
              <a:rPr lang="hr-HR" sz="2600" b="1" dirty="0"/>
              <a:t> — </a:t>
            </a:r>
            <a:r>
              <a:rPr lang="hr-HR" sz="2600" b="1" dirty="0" err="1"/>
              <a:t>or</a:t>
            </a:r>
            <a:r>
              <a:rPr lang="hr-HR" sz="2600" b="1" dirty="0"/>
              <a:t> a </a:t>
            </a:r>
            <a:r>
              <a:rPr lang="hr-HR" sz="2600" b="1" dirty="0" err="1"/>
              <a:t>lens</a:t>
            </a:r>
            <a:r>
              <a:rPr lang="hr-HR" sz="2600" b="1" dirty="0"/>
              <a:t> </a:t>
            </a:r>
            <a:r>
              <a:rPr lang="hr-HR" sz="2600" b="1" dirty="0" err="1"/>
              <a:t>across</a:t>
            </a:r>
            <a:r>
              <a:rPr lang="hr-HR" sz="2600" b="1" dirty="0"/>
              <a:t> </a:t>
            </a:r>
            <a:r>
              <a:rPr lang="hr-HR" sz="2600" b="1" dirty="0" err="1"/>
              <a:t>all</a:t>
            </a:r>
            <a:r>
              <a:rPr lang="hr-HR" sz="2600" b="1" dirty="0"/>
              <a:t> </a:t>
            </a:r>
            <a:r>
              <a:rPr lang="hr-HR" sz="2600" b="1" dirty="0" err="1"/>
              <a:t>nine</a:t>
            </a:r>
            <a:r>
              <a:rPr lang="hr-HR" sz="2600" b="1" dirty="0"/>
              <a:t> </a:t>
            </a:r>
            <a:r>
              <a:rPr lang="hr-HR" sz="2600" b="1" dirty="0" err="1"/>
              <a:t>dimensions</a:t>
            </a:r>
            <a:r>
              <a:rPr lang="hr-HR" sz="2600" b="1" dirty="0"/>
              <a:t>?</a:t>
            </a:r>
            <a:endParaRPr lang="hr-HR" sz="2600" dirty="0"/>
          </a:p>
        </p:txBody>
      </p:sp>
    </p:spTree>
    <p:extLst>
      <p:ext uri="{BB962C8B-B14F-4D97-AF65-F5344CB8AC3E}">
        <p14:creationId xmlns:p14="http://schemas.microsoft.com/office/powerpoint/2010/main" val="368997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A6AF76F-FFF2-C00E-CDE1-EA327B03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we</a:t>
            </a:r>
            <a:r>
              <a:rPr lang="hr-HR" dirty="0"/>
              <a:t> </a:t>
            </a:r>
            <a:r>
              <a:rPr lang="hr-HR" dirty="0" err="1"/>
              <a:t>ask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today's</a:t>
            </a:r>
            <a:r>
              <a:rPr lang="hr-HR" dirty="0"/>
              <a:t> </a:t>
            </a:r>
            <a:r>
              <a:rPr lang="hr-HR" dirty="0" err="1"/>
              <a:t>cases</a:t>
            </a:r>
            <a:endParaRPr lang="hr-H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C535FF-1161-720A-FB7E-6D4FBF6D5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r-HR" b="1" dirty="0"/>
              <a:t>Do </a:t>
            </a:r>
            <a:r>
              <a:rPr lang="hr-HR" b="1" dirty="0" err="1"/>
              <a:t>not</a:t>
            </a:r>
            <a:r>
              <a:rPr lang="hr-HR" b="1" dirty="0"/>
              <a:t> </a:t>
            </a:r>
            <a:r>
              <a:rPr lang="hr-HR" b="1" dirty="0" err="1"/>
              <a:t>ask</a:t>
            </a:r>
            <a:r>
              <a:rPr lang="hr-HR" b="1" dirty="0"/>
              <a:t> </a:t>
            </a:r>
            <a:r>
              <a:rPr lang="hr-HR" b="1" dirty="0" err="1"/>
              <a:t>only</a:t>
            </a:r>
            <a:r>
              <a:rPr lang="hr-HR" b="1" dirty="0"/>
              <a:t>:</a:t>
            </a:r>
            <a:r>
              <a:rPr lang="en-US" b="1" dirty="0"/>
              <a:t> </a:t>
            </a:r>
            <a:r>
              <a:rPr lang="hr-HR" b="1" dirty="0" err="1"/>
              <a:t>Does</a:t>
            </a:r>
            <a:r>
              <a:rPr lang="hr-HR" b="1" dirty="0"/>
              <a:t> </a:t>
            </a:r>
            <a:r>
              <a:rPr lang="hr-HR" b="1" dirty="0" err="1"/>
              <a:t>the</a:t>
            </a:r>
            <a:r>
              <a:rPr lang="hr-HR" b="1" dirty="0"/>
              <a:t> LLM </a:t>
            </a:r>
            <a:r>
              <a:rPr lang="hr-HR" b="1" dirty="0" err="1"/>
              <a:t>work</a:t>
            </a:r>
            <a:r>
              <a:rPr lang="hr-HR" b="1" dirty="0"/>
              <a:t>?</a:t>
            </a:r>
            <a:endParaRPr lang="hr-HR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We </a:t>
            </a:r>
            <a:r>
              <a:rPr lang="hr-HR" b="1" dirty="0" err="1"/>
              <a:t>Ask</a:t>
            </a:r>
            <a:r>
              <a:rPr lang="hr-HR" b="1" dirty="0"/>
              <a:t> </a:t>
            </a:r>
            <a:r>
              <a:rPr lang="hr-HR" b="1" dirty="0" err="1"/>
              <a:t>also</a:t>
            </a:r>
            <a:r>
              <a:rPr lang="hr-HR" b="1" dirty="0"/>
              <a:t>:</a:t>
            </a:r>
          </a:p>
          <a:p>
            <a:pPr lvl="0"/>
            <a:r>
              <a:rPr lang="hr-HR" dirty="0"/>
              <a:t>For </a:t>
            </a:r>
            <a:r>
              <a:rPr lang="hr-HR" dirty="0" err="1"/>
              <a:t>whom</a:t>
            </a:r>
            <a:r>
              <a:rPr lang="hr-HR" dirty="0"/>
              <a:t> </a:t>
            </a:r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work</a:t>
            </a:r>
            <a:r>
              <a:rPr lang="hr-HR" dirty="0"/>
              <a:t>? </a:t>
            </a:r>
          </a:p>
          <a:p>
            <a:pPr lvl="0"/>
            <a:r>
              <a:rPr lang="hr-HR" dirty="0" err="1"/>
              <a:t>Under</a:t>
            </a:r>
            <a:r>
              <a:rPr lang="hr-HR" dirty="0"/>
              <a:t>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conditions</a:t>
            </a:r>
            <a:r>
              <a:rPr lang="hr-HR" dirty="0"/>
              <a:t>? </a:t>
            </a:r>
          </a:p>
          <a:p>
            <a:pPr lvl="0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changes</a:t>
            </a:r>
            <a:r>
              <a:rPr lang="hr-HR" dirty="0"/>
              <a:t> for </a:t>
            </a:r>
            <a:r>
              <a:rPr lang="hr-HR" dirty="0" err="1"/>
              <a:t>humans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organizations</a:t>
            </a:r>
            <a:r>
              <a:rPr lang="hr-HR" dirty="0"/>
              <a:t>? </a:t>
            </a:r>
          </a:p>
          <a:p>
            <a:pPr lvl="0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limits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? </a:t>
            </a:r>
          </a:p>
          <a:p>
            <a:pPr lvl="0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value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created</a:t>
            </a:r>
            <a:r>
              <a:rPr lang="hr-HR" dirty="0"/>
              <a:t> — </a:t>
            </a:r>
            <a:r>
              <a:rPr lang="hr-HR" dirty="0" err="1"/>
              <a:t>and</a:t>
            </a:r>
            <a:r>
              <a:rPr lang="hr-HR" dirty="0"/>
              <a:t> for </a:t>
            </a:r>
            <a:r>
              <a:rPr lang="hr-HR" dirty="0" err="1"/>
              <a:t>whom</a:t>
            </a:r>
            <a:r>
              <a:rPr lang="hr-HR" dirty="0"/>
              <a:t>? </a:t>
            </a:r>
          </a:p>
          <a:p>
            <a:pPr lvl="0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transfer to </a:t>
            </a:r>
            <a:r>
              <a:rPr lang="hr-HR" dirty="0" err="1"/>
              <a:t>another</a:t>
            </a:r>
            <a:r>
              <a:rPr lang="hr-HR" dirty="0"/>
              <a:t> </a:t>
            </a:r>
            <a:r>
              <a:rPr lang="hr-HR" dirty="0" err="1"/>
              <a:t>context</a:t>
            </a:r>
            <a:r>
              <a:rPr lang="hr-HR" dirty="0"/>
              <a:t>? </a:t>
            </a:r>
          </a:p>
          <a:p>
            <a:pPr lvl="0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would</a:t>
            </a:r>
            <a:r>
              <a:rPr lang="hr-HR" dirty="0"/>
              <a:t> </a:t>
            </a:r>
            <a:r>
              <a:rPr lang="hr-HR" dirty="0" err="1"/>
              <a:t>be</a:t>
            </a:r>
            <a:r>
              <a:rPr lang="hr-HR" dirty="0"/>
              <a:t> </a:t>
            </a:r>
            <a:r>
              <a:rPr lang="hr-HR" dirty="0" err="1"/>
              <a:t>needed</a:t>
            </a:r>
            <a:r>
              <a:rPr lang="hr-HR" dirty="0"/>
              <a:t> to </a:t>
            </a:r>
            <a:r>
              <a:rPr lang="hr-HR" dirty="0" err="1"/>
              <a:t>reproduce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adoption</a:t>
            </a:r>
            <a:r>
              <a:rPr lang="hr-HR" dirty="0"/>
              <a:t>?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hr-HR" b="1" dirty="0" err="1"/>
              <a:t>We</a:t>
            </a:r>
            <a:r>
              <a:rPr lang="hr-HR" b="1" dirty="0"/>
              <a:t> do </a:t>
            </a:r>
            <a:r>
              <a:rPr lang="hr-HR" b="1" dirty="0" err="1"/>
              <a:t>not</a:t>
            </a:r>
            <a:r>
              <a:rPr lang="hr-HR" b="1" dirty="0"/>
              <a:t> </a:t>
            </a:r>
            <a:r>
              <a:rPr lang="hr-HR" b="1" dirty="0" err="1"/>
              <a:t>expect</a:t>
            </a:r>
            <a:r>
              <a:rPr lang="hr-HR" b="1" dirty="0"/>
              <a:t> </a:t>
            </a:r>
            <a:r>
              <a:rPr lang="hr-HR" b="1" dirty="0" err="1"/>
              <a:t>every</a:t>
            </a:r>
            <a:r>
              <a:rPr lang="hr-HR" b="1" dirty="0"/>
              <a:t> </a:t>
            </a:r>
            <a:r>
              <a:rPr lang="hr-HR" b="1" dirty="0" err="1"/>
              <a:t>case</a:t>
            </a:r>
            <a:r>
              <a:rPr lang="hr-HR" b="1" dirty="0"/>
              <a:t> to </a:t>
            </a:r>
            <a:r>
              <a:rPr lang="hr-HR" b="1" dirty="0" err="1"/>
              <a:t>answer</a:t>
            </a:r>
            <a:r>
              <a:rPr lang="hr-HR" b="1" dirty="0"/>
              <a:t> </a:t>
            </a:r>
            <a:r>
              <a:rPr lang="hr-HR" b="1" dirty="0" err="1"/>
              <a:t>all</a:t>
            </a:r>
            <a:r>
              <a:rPr lang="hr-HR" b="1" dirty="0"/>
              <a:t> </a:t>
            </a:r>
            <a:r>
              <a:rPr lang="hr-HR" b="1" dirty="0" err="1"/>
              <a:t>nine</a:t>
            </a:r>
            <a:r>
              <a:rPr lang="hr-HR" b="1" dirty="0"/>
              <a:t> </a:t>
            </a:r>
            <a:r>
              <a:rPr lang="hr-HR" b="1" dirty="0" err="1"/>
              <a:t>questions</a:t>
            </a:r>
            <a:r>
              <a:rPr lang="hr-HR" b="1" dirty="0"/>
              <a:t>. </a:t>
            </a:r>
            <a:r>
              <a:rPr lang="hr-HR" b="1" dirty="0" err="1"/>
              <a:t>Missing</a:t>
            </a:r>
            <a:r>
              <a:rPr lang="hr-HR" b="1" dirty="0"/>
              <a:t> </a:t>
            </a:r>
            <a:r>
              <a:rPr lang="hr-HR" b="1" dirty="0" err="1"/>
              <a:t>answers</a:t>
            </a:r>
            <a:r>
              <a:rPr lang="hr-HR" b="1" dirty="0"/>
              <a:t> are </a:t>
            </a:r>
            <a:r>
              <a:rPr lang="hr-HR" b="1" dirty="0" err="1"/>
              <a:t>also</a:t>
            </a:r>
            <a:r>
              <a:rPr lang="hr-HR" b="1" dirty="0"/>
              <a:t> </a:t>
            </a:r>
            <a:r>
              <a:rPr lang="hr-HR" b="1" dirty="0" err="1"/>
              <a:t>evidence</a:t>
            </a:r>
            <a:r>
              <a:rPr lang="hr-HR" b="1" dirty="0"/>
              <a:t>.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4929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F0A009-2F2A-2B3C-403A-4D3047CF7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II. CASE STUDIE</a:t>
            </a:r>
            <a:r>
              <a:rPr lang="en-US" dirty="0"/>
              <a:t>S</a:t>
            </a:r>
            <a:endParaRPr lang="hr-HR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9EA4918-6571-50F2-F432-1FEEE1A0E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14:40–15:15</a:t>
            </a:r>
            <a:r>
              <a:rPr lang="en-US" dirty="0"/>
              <a:t> (35 min)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02361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4551-DDC6-8750-C5DC-BB8A5ABB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Cross-</a:t>
            </a:r>
            <a:r>
              <a:rPr lang="hr-HR" b="1" dirty="0" err="1"/>
              <a:t>Domain</a:t>
            </a:r>
            <a:r>
              <a:rPr lang="en-US" b="1" dirty="0"/>
              <a:t> </a:t>
            </a:r>
            <a:r>
              <a:rPr lang="hr-HR" b="1" dirty="0" err="1"/>
              <a:t>Case</a:t>
            </a:r>
            <a:r>
              <a:rPr lang="hr-HR" b="1" dirty="0"/>
              <a:t> </a:t>
            </a:r>
            <a:r>
              <a:rPr lang="hr-HR" b="1" dirty="0" err="1"/>
              <a:t>Studies</a:t>
            </a:r>
            <a:r>
              <a:rPr lang="en-US" b="1" dirty="0"/>
              <a:t> 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DDC9-3BF3-7E54-551C-68A55F28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hr-HR" b="1" dirty="0" err="1"/>
              <a:t>Case</a:t>
            </a:r>
            <a:r>
              <a:rPr lang="hr-HR" b="1" dirty="0"/>
              <a:t> 1 — </a:t>
            </a:r>
            <a:r>
              <a:rPr lang="hr-HR" b="1" dirty="0" err="1"/>
              <a:t>Industrial</a:t>
            </a:r>
            <a:r>
              <a:rPr lang="hr-HR" b="1" dirty="0"/>
              <a:t> </a:t>
            </a:r>
            <a:r>
              <a:rPr lang="hr-HR" b="1" dirty="0" err="1"/>
              <a:t>Cybersecurity</a:t>
            </a:r>
            <a:br>
              <a:rPr lang="en-US" b="1" dirty="0"/>
            </a:br>
            <a:r>
              <a:rPr lang="hr-HR" i="1" dirty="0" err="1"/>
              <a:t>Enhancing</a:t>
            </a:r>
            <a:r>
              <a:rPr lang="hr-HR" i="1" dirty="0"/>
              <a:t> </a:t>
            </a:r>
            <a:r>
              <a:rPr lang="hr-HR" i="1" dirty="0" err="1"/>
              <a:t>Operation</a:t>
            </a:r>
            <a:r>
              <a:rPr lang="hr-HR" i="1" dirty="0"/>
              <a:t> </a:t>
            </a:r>
            <a:r>
              <a:rPr lang="hr-HR" i="1" dirty="0" err="1"/>
              <a:t>Wisdom</a:t>
            </a:r>
            <a:r>
              <a:rPr lang="hr-HR" i="1" dirty="0"/>
              <a:t> </a:t>
            </a:r>
            <a:r>
              <a:rPr lang="hr-HR" i="1" dirty="0" err="1"/>
              <a:t>Logging</a:t>
            </a:r>
            <a:r>
              <a:rPr lang="hr-HR" i="1" dirty="0"/>
              <a:t> </a:t>
            </a:r>
            <a:r>
              <a:rPr lang="hr-HR" i="1" dirty="0" err="1"/>
              <a:t>Solution</a:t>
            </a:r>
            <a:r>
              <a:rPr lang="hr-HR" i="1" dirty="0"/>
              <a:t> </a:t>
            </a:r>
            <a:r>
              <a:rPr lang="hr-HR" i="1" dirty="0" err="1"/>
              <a:t>Utilizing</a:t>
            </a:r>
            <a:r>
              <a:rPr lang="hr-HR" i="1" dirty="0"/>
              <a:t> </a:t>
            </a:r>
            <a:r>
              <a:rPr lang="hr-HR" i="1" dirty="0" err="1"/>
              <a:t>Different</a:t>
            </a:r>
            <a:r>
              <a:rPr lang="hr-HR" i="1" dirty="0"/>
              <a:t> </a:t>
            </a:r>
            <a:r>
              <a:rPr lang="hr-HR" i="1" dirty="0" err="1"/>
              <a:t>Local</a:t>
            </a:r>
            <a:r>
              <a:rPr lang="hr-HR" i="1" dirty="0"/>
              <a:t> </a:t>
            </a:r>
            <a:r>
              <a:rPr lang="hr-HR" i="1" dirty="0" err="1"/>
              <a:t>LLMs</a:t>
            </a:r>
            <a:r>
              <a:rPr lang="hr-HR" i="1" dirty="0"/>
              <a:t> for Security </a:t>
            </a:r>
            <a:r>
              <a:rPr lang="hr-HR" i="1" dirty="0" err="1"/>
              <a:t>Anomaly</a:t>
            </a:r>
            <a:r>
              <a:rPr lang="hr-HR" i="1" dirty="0"/>
              <a:t> </a:t>
            </a:r>
            <a:r>
              <a:rPr lang="hr-HR" i="1" dirty="0" err="1"/>
              <a:t>Detection</a:t>
            </a:r>
            <a:br>
              <a:rPr lang="en-US" i="1" dirty="0"/>
            </a:br>
            <a:r>
              <a:rPr lang="hr-HR" b="1" dirty="0"/>
              <a:t>Zoran </a:t>
            </a:r>
            <a:r>
              <a:rPr lang="hr-HR" b="1" dirty="0" err="1"/>
              <a:t>Bosić</a:t>
            </a:r>
            <a:r>
              <a:rPr lang="hr-HR" b="1" dirty="0"/>
              <a:t> — Ericsson Nikola Tesla</a:t>
            </a:r>
            <a:endParaRPr lang="hr-HR" dirty="0"/>
          </a:p>
          <a:p>
            <a:endParaRPr lang="en-US" b="1" dirty="0"/>
          </a:p>
          <a:p>
            <a:r>
              <a:rPr lang="hr-HR" b="1" dirty="0" err="1"/>
              <a:t>Case</a:t>
            </a:r>
            <a:r>
              <a:rPr lang="hr-HR" b="1" dirty="0"/>
              <a:t> 2 — </a:t>
            </a:r>
            <a:r>
              <a:rPr lang="hr-HR" b="1" dirty="0" err="1"/>
              <a:t>Edge</a:t>
            </a:r>
            <a:r>
              <a:rPr lang="hr-HR" b="1" dirty="0"/>
              <a:t> LLM </a:t>
            </a:r>
            <a:r>
              <a:rPr lang="hr-HR" b="1" dirty="0" err="1"/>
              <a:t>Infrastructure</a:t>
            </a:r>
            <a:br>
              <a:rPr lang="en-US" b="1" dirty="0"/>
            </a:br>
            <a:r>
              <a:rPr lang="hr-HR" i="1" dirty="0" err="1"/>
              <a:t>Payload-Aware</a:t>
            </a:r>
            <a:r>
              <a:rPr lang="hr-HR" i="1" dirty="0"/>
              <a:t> </a:t>
            </a:r>
            <a:r>
              <a:rPr lang="hr-HR" i="1" dirty="0" err="1"/>
              <a:t>Dynamic</a:t>
            </a:r>
            <a:r>
              <a:rPr lang="hr-HR" i="1" dirty="0"/>
              <a:t> </a:t>
            </a:r>
            <a:r>
              <a:rPr lang="hr-HR" i="1" dirty="0" err="1"/>
              <a:t>Precision</a:t>
            </a:r>
            <a:r>
              <a:rPr lang="hr-HR" i="1" dirty="0"/>
              <a:t> </a:t>
            </a:r>
            <a:r>
              <a:rPr lang="hr-HR" i="1" dirty="0" err="1"/>
              <a:t>Orchestration</a:t>
            </a:r>
            <a:r>
              <a:rPr lang="hr-HR" i="1" dirty="0"/>
              <a:t> for </a:t>
            </a:r>
            <a:r>
              <a:rPr lang="hr-HR" i="1" dirty="0" err="1"/>
              <a:t>Edge</a:t>
            </a:r>
            <a:r>
              <a:rPr lang="hr-HR" i="1" dirty="0"/>
              <a:t> LLM </a:t>
            </a:r>
            <a:r>
              <a:rPr lang="hr-HR" i="1" dirty="0" err="1"/>
              <a:t>Inference</a:t>
            </a:r>
            <a:br>
              <a:rPr lang="en-US" i="1" dirty="0"/>
            </a:br>
            <a:r>
              <a:rPr lang="hr-HR" b="1" dirty="0"/>
              <a:t>Dr. Rana Abu Bakar</a:t>
            </a:r>
            <a:endParaRPr lang="hr-HR" dirty="0"/>
          </a:p>
          <a:p>
            <a:endParaRPr lang="en-US" b="1" dirty="0"/>
          </a:p>
          <a:p>
            <a:r>
              <a:rPr lang="hr-HR" b="1" dirty="0" err="1"/>
              <a:t>Case</a:t>
            </a:r>
            <a:r>
              <a:rPr lang="hr-HR" b="1" dirty="0"/>
              <a:t> 3 — Network Management &amp; </a:t>
            </a:r>
            <a:r>
              <a:rPr lang="hr-HR" b="1" dirty="0" err="1"/>
              <a:t>Reliability</a:t>
            </a:r>
            <a:br>
              <a:rPr lang="en-US" b="1" dirty="0"/>
            </a:br>
            <a:r>
              <a:rPr lang="hr-HR" i="1" dirty="0"/>
              <a:t>Network Management </a:t>
            </a:r>
            <a:r>
              <a:rPr lang="hr-HR" i="1" dirty="0" err="1"/>
              <a:t>Reliability</a:t>
            </a:r>
            <a:r>
              <a:rPr lang="hr-HR" i="1" dirty="0"/>
              <a:t> </a:t>
            </a:r>
            <a:r>
              <a:rPr lang="hr-HR" i="1" dirty="0" err="1"/>
              <a:t>Enabled</a:t>
            </a:r>
            <a:r>
              <a:rPr lang="hr-HR" i="1" dirty="0"/>
              <a:t> </a:t>
            </a:r>
            <a:r>
              <a:rPr lang="hr-HR" i="1" dirty="0" err="1"/>
              <a:t>by</a:t>
            </a:r>
            <a:r>
              <a:rPr lang="hr-HR" i="1" dirty="0"/>
              <a:t> LLM: </a:t>
            </a:r>
            <a:r>
              <a:rPr lang="hr-HR" i="1" dirty="0" err="1"/>
              <a:t>Analysis</a:t>
            </a:r>
            <a:r>
              <a:rPr lang="hr-HR" i="1" dirty="0"/>
              <a:t> </a:t>
            </a:r>
            <a:r>
              <a:rPr lang="hr-HR" i="1" dirty="0" err="1"/>
              <a:t>of</a:t>
            </a:r>
            <a:r>
              <a:rPr lang="hr-HR" i="1" dirty="0"/>
              <a:t> Channel </a:t>
            </a:r>
            <a:r>
              <a:rPr lang="hr-HR" i="1" dirty="0" err="1"/>
              <a:t>Capacity</a:t>
            </a:r>
            <a:r>
              <a:rPr lang="hr-HR" i="1" dirty="0"/>
              <a:t> </a:t>
            </a:r>
            <a:r>
              <a:rPr lang="hr-HR" i="1" dirty="0" err="1"/>
              <a:t>Case</a:t>
            </a:r>
            <a:r>
              <a:rPr lang="hr-HR" i="1" dirty="0"/>
              <a:t> </a:t>
            </a:r>
            <a:r>
              <a:rPr lang="hr-HR" i="1" dirty="0" err="1"/>
              <a:t>in</a:t>
            </a:r>
            <a:r>
              <a:rPr lang="hr-HR" i="1" dirty="0"/>
              <a:t> </a:t>
            </a:r>
            <a:r>
              <a:rPr lang="hr-HR" i="1" dirty="0" err="1"/>
              <a:t>the</a:t>
            </a:r>
            <a:r>
              <a:rPr lang="hr-HR" i="1" dirty="0"/>
              <a:t> </a:t>
            </a:r>
            <a:r>
              <a:rPr lang="hr-HR" i="1" dirty="0" err="1"/>
              <a:t>Presence</a:t>
            </a:r>
            <a:r>
              <a:rPr lang="hr-HR" i="1" dirty="0"/>
              <a:t> </a:t>
            </a:r>
            <a:r>
              <a:rPr lang="hr-HR" i="1" dirty="0" err="1"/>
              <a:t>of</a:t>
            </a:r>
            <a:r>
              <a:rPr lang="hr-HR" i="1" dirty="0"/>
              <a:t> </a:t>
            </a:r>
            <a:r>
              <a:rPr lang="hr-HR" i="1" dirty="0" err="1"/>
              <a:t>Beaulieu-Xie</a:t>
            </a:r>
            <a:r>
              <a:rPr lang="hr-HR" i="1" dirty="0"/>
              <a:t> </a:t>
            </a:r>
            <a:r>
              <a:rPr lang="hr-HR" i="1" dirty="0" err="1"/>
              <a:t>Fading</a:t>
            </a:r>
            <a:br>
              <a:rPr lang="en-US" i="1" dirty="0"/>
            </a:br>
            <a:r>
              <a:rPr lang="hr-HR" b="1" dirty="0"/>
              <a:t>Dragana </a:t>
            </a:r>
            <a:r>
              <a:rPr lang="hr-HR" b="1" dirty="0" err="1"/>
              <a:t>Kisić</a:t>
            </a:r>
            <a:r>
              <a:rPr lang="hr-HR" b="1" dirty="0"/>
              <a:t> — University </a:t>
            </a:r>
            <a:r>
              <a:rPr lang="hr-HR" b="1" dirty="0" err="1"/>
              <a:t>of</a:t>
            </a:r>
            <a:r>
              <a:rPr lang="hr-HR" b="1" dirty="0"/>
              <a:t> Niš</a:t>
            </a:r>
            <a:endParaRPr lang="en-US" b="1" dirty="0"/>
          </a:p>
          <a:p>
            <a:endParaRPr lang="en-US" b="1" dirty="0"/>
          </a:p>
          <a:p>
            <a:r>
              <a:rPr lang="hr-HR" b="1" dirty="0"/>
              <a:t>As </a:t>
            </a:r>
            <a:r>
              <a:rPr lang="hr-HR" b="1" dirty="0" err="1"/>
              <a:t>you</a:t>
            </a:r>
            <a:r>
              <a:rPr lang="hr-HR" b="1" dirty="0"/>
              <a:t> </a:t>
            </a:r>
            <a:r>
              <a:rPr lang="hr-HR" b="1" dirty="0" err="1"/>
              <a:t>listen</a:t>
            </a:r>
            <a:r>
              <a:rPr lang="hr-HR" b="1" dirty="0"/>
              <a:t>, </a:t>
            </a:r>
            <a:r>
              <a:rPr lang="hr-HR" b="1" dirty="0" err="1"/>
              <a:t>ask</a:t>
            </a:r>
            <a:r>
              <a:rPr lang="hr-HR" b="1" dirty="0"/>
              <a:t> </a:t>
            </a:r>
            <a:r>
              <a:rPr lang="hr-HR" b="1" dirty="0" err="1"/>
              <a:t>yourself</a:t>
            </a:r>
            <a:r>
              <a:rPr lang="hr-HR" b="1" dirty="0"/>
              <a:t>:</a:t>
            </a:r>
            <a:br>
              <a:rPr lang="en-US" b="1" dirty="0"/>
            </a:b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is</a:t>
            </a:r>
            <a:r>
              <a:rPr lang="hr-HR" b="1" dirty="0"/>
              <a:t> </a:t>
            </a:r>
            <a:r>
              <a:rPr lang="hr-HR" b="1" dirty="0" err="1"/>
              <a:t>common</a:t>
            </a:r>
            <a:r>
              <a:rPr lang="hr-HR" b="1" dirty="0"/>
              <a:t>? </a:t>
            </a: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is</a:t>
            </a:r>
            <a:r>
              <a:rPr lang="hr-HR" b="1" dirty="0"/>
              <a:t> </a:t>
            </a:r>
            <a:r>
              <a:rPr lang="hr-HR" b="1" dirty="0" err="1"/>
              <a:t>context-specific</a:t>
            </a:r>
            <a:r>
              <a:rPr lang="hr-HR" b="1" dirty="0"/>
              <a:t>? </a:t>
            </a: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is</a:t>
            </a:r>
            <a:r>
              <a:rPr lang="hr-HR" b="1" dirty="0"/>
              <a:t> </a:t>
            </a:r>
            <a:r>
              <a:rPr lang="hr-HR" b="1" dirty="0" err="1"/>
              <a:t>missing</a:t>
            </a:r>
            <a:r>
              <a:rPr lang="hr-HR" b="1" dirty="0"/>
              <a:t> </a:t>
            </a:r>
            <a:r>
              <a:rPr lang="hr-HR" b="1" dirty="0" err="1"/>
              <a:t>from</a:t>
            </a:r>
            <a:r>
              <a:rPr lang="hr-HR" b="1" dirty="0"/>
              <a:t> </a:t>
            </a:r>
            <a:r>
              <a:rPr lang="hr-HR" b="1" dirty="0" err="1"/>
              <a:t>our</a:t>
            </a:r>
            <a:r>
              <a:rPr lang="hr-HR" b="1" dirty="0"/>
              <a:t> </a:t>
            </a:r>
            <a:r>
              <a:rPr lang="hr-HR" b="1" dirty="0" err="1"/>
              <a:t>framework</a:t>
            </a:r>
            <a:r>
              <a:rPr lang="hr-HR" b="1" dirty="0"/>
              <a:t>?</a:t>
            </a:r>
            <a:endParaRPr lang="hr-HR" dirty="0"/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6931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BA87-8602-45EF-F4A0-4FB9D82C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511BB8-70C0-0923-2194-9AA6A5B28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III. STRUCTURED REFLECTION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D65304-1B5A-3BEA-0741-4022CD772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oko 15:15</a:t>
            </a:r>
            <a:r>
              <a:rPr lang="en-US" dirty="0"/>
              <a:t>  (10 min)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42087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1AC3-DE35-57B0-7CF0-3F3DFBB3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Individual</a:t>
            </a:r>
            <a:r>
              <a:rPr lang="hr-HR" dirty="0"/>
              <a:t> </a:t>
            </a:r>
            <a:r>
              <a:rPr lang="hr-HR" dirty="0" err="1"/>
              <a:t>Reflection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10764-A390-8F7A-7F5D-13CC362F0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Now</a:t>
            </a:r>
            <a:r>
              <a:rPr lang="hr-HR" b="1" dirty="0"/>
              <a:t> </a:t>
            </a:r>
            <a:r>
              <a:rPr lang="hr-HR" b="1" dirty="0" err="1"/>
              <a:t>map</a:t>
            </a:r>
            <a:r>
              <a:rPr lang="hr-HR" b="1" dirty="0"/>
              <a:t> </a:t>
            </a: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you</a:t>
            </a:r>
            <a:r>
              <a:rPr lang="hr-HR" b="1" dirty="0"/>
              <a:t> </a:t>
            </a:r>
            <a:r>
              <a:rPr lang="hr-HR" b="1" dirty="0" err="1"/>
              <a:t>heard</a:t>
            </a:r>
            <a:r>
              <a:rPr lang="hr-HR" b="1" dirty="0"/>
              <a:t> — </a:t>
            </a:r>
            <a:r>
              <a:rPr lang="hr-HR" b="1" dirty="0" err="1"/>
              <a:t>and</a:t>
            </a:r>
            <a:r>
              <a:rPr lang="hr-HR" b="1" dirty="0"/>
              <a:t> </a:t>
            </a:r>
            <a:r>
              <a:rPr lang="hr-HR" b="1" dirty="0" err="1"/>
              <a:t>your</a:t>
            </a:r>
            <a:r>
              <a:rPr lang="hr-HR" b="1" dirty="0"/>
              <a:t> </a:t>
            </a:r>
            <a:r>
              <a:rPr lang="hr-HR" b="1" dirty="0" err="1"/>
              <a:t>own</a:t>
            </a:r>
            <a:r>
              <a:rPr lang="hr-HR" b="1" dirty="0"/>
              <a:t> </a:t>
            </a:r>
            <a:r>
              <a:rPr lang="hr-HR" b="1" dirty="0" err="1"/>
              <a:t>case</a:t>
            </a:r>
            <a:endParaRPr lang="hr-HR" b="1" dirty="0"/>
          </a:p>
          <a:p>
            <a:r>
              <a:rPr lang="hr-HR" b="1" dirty="0" err="1"/>
              <a:t>Please</a:t>
            </a:r>
            <a:r>
              <a:rPr lang="hr-HR" b="1" dirty="0"/>
              <a:t> </a:t>
            </a:r>
            <a:r>
              <a:rPr lang="hr-HR" b="1" dirty="0" err="1"/>
              <a:t>complete</a:t>
            </a:r>
            <a:r>
              <a:rPr lang="hr-HR" b="1" dirty="0"/>
              <a:t> </a:t>
            </a:r>
            <a:r>
              <a:rPr lang="hr-HR" b="1" dirty="0" err="1"/>
              <a:t>the</a:t>
            </a:r>
            <a:r>
              <a:rPr lang="hr-HR" b="1" dirty="0"/>
              <a:t> </a:t>
            </a:r>
            <a:r>
              <a:rPr lang="hr-HR" b="1" dirty="0" err="1"/>
              <a:t>reflection</a:t>
            </a:r>
            <a:r>
              <a:rPr lang="hr-HR" b="1" dirty="0"/>
              <a:t> </a:t>
            </a:r>
            <a:r>
              <a:rPr lang="hr-HR" b="1" dirty="0" err="1"/>
              <a:t>sheet</a:t>
            </a:r>
            <a:r>
              <a:rPr lang="hr-HR" b="1" dirty="0"/>
              <a:t> </a:t>
            </a:r>
            <a:r>
              <a:rPr lang="hr-HR" b="1" dirty="0" err="1"/>
              <a:t>individually</a:t>
            </a:r>
            <a:r>
              <a:rPr lang="hr-HR" b="1" dirty="0"/>
              <a:t>.</a:t>
            </a:r>
            <a:endParaRPr lang="hr-HR" dirty="0"/>
          </a:p>
          <a:p>
            <a:pPr lvl="1"/>
            <a:r>
              <a:rPr lang="hr-HR" dirty="0" err="1"/>
              <a:t>There</a:t>
            </a:r>
            <a:r>
              <a:rPr lang="hr-HR" dirty="0"/>
              <a:t> are no “</a:t>
            </a:r>
            <a:r>
              <a:rPr lang="hr-HR" dirty="0" err="1"/>
              <a:t>correct</a:t>
            </a:r>
            <a:r>
              <a:rPr lang="hr-HR" dirty="0"/>
              <a:t>” </a:t>
            </a:r>
            <a:r>
              <a:rPr lang="hr-HR" dirty="0" err="1"/>
              <a:t>answers</a:t>
            </a:r>
            <a:r>
              <a:rPr lang="hr-HR" dirty="0"/>
              <a:t>. </a:t>
            </a:r>
          </a:p>
          <a:p>
            <a:pPr lvl="1"/>
            <a:r>
              <a:rPr lang="hr-HR" dirty="0" err="1"/>
              <a:t>Think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your</a:t>
            </a:r>
            <a:r>
              <a:rPr lang="hr-HR" dirty="0"/>
              <a:t> </a:t>
            </a:r>
            <a:r>
              <a:rPr lang="hr-HR" dirty="0" err="1"/>
              <a:t>own</a:t>
            </a:r>
            <a:r>
              <a:rPr lang="hr-HR" dirty="0"/>
              <a:t> LLM </a:t>
            </a:r>
            <a:r>
              <a:rPr lang="hr-HR" dirty="0" err="1"/>
              <a:t>case</a:t>
            </a:r>
            <a:r>
              <a:rPr lang="hr-HR" dirty="0"/>
              <a:t> </a:t>
            </a:r>
            <a:r>
              <a:rPr lang="hr-HR" dirty="0" err="1"/>
              <a:t>if</a:t>
            </a:r>
            <a:r>
              <a:rPr lang="hr-HR" dirty="0"/>
              <a:t> </a:t>
            </a:r>
            <a:r>
              <a:rPr lang="hr-HR" dirty="0" err="1"/>
              <a:t>you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one. </a:t>
            </a:r>
          </a:p>
          <a:p>
            <a:pPr lvl="1"/>
            <a:r>
              <a:rPr lang="hr-HR" dirty="0" err="1"/>
              <a:t>Otherwise</a:t>
            </a:r>
            <a:r>
              <a:rPr lang="hr-HR" dirty="0"/>
              <a:t>, </a:t>
            </a:r>
            <a:r>
              <a:rPr lang="hr-HR" dirty="0" err="1"/>
              <a:t>reflect</a:t>
            </a:r>
            <a:r>
              <a:rPr lang="hr-HR" dirty="0"/>
              <a:t> on one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presented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. </a:t>
            </a:r>
          </a:p>
          <a:p>
            <a:pPr lvl="1"/>
            <a:r>
              <a:rPr lang="hr-HR" dirty="0"/>
              <a:t>Mark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</a:t>
            </a:r>
            <a:r>
              <a:rPr lang="hr-HR" dirty="0" err="1"/>
              <a:t>captures</a:t>
            </a:r>
            <a:r>
              <a:rPr lang="hr-HR" dirty="0"/>
              <a:t>. </a:t>
            </a:r>
          </a:p>
          <a:p>
            <a:pPr lvl="1"/>
            <a:r>
              <a:rPr lang="hr-HR" dirty="0"/>
              <a:t>Note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misses</a:t>
            </a:r>
            <a:r>
              <a:rPr lang="hr-HR" dirty="0"/>
              <a:t>.</a:t>
            </a:r>
          </a:p>
          <a:p>
            <a:r>
              <a:rPr lang="en-US" dirty="0"/>
              <a:t>The link to the reflection sheet is at workshop web page</a:t>
            </a:r>
          </a:p>
          <a:p>
            <a:r>
              <a:rPr lang="hr-HR" dirty="0"/>
              <a:t>https://tgalinacgrbac.github.io/workshop/</a:t>
            </a:r>
          </a:p>
        </p:txBody>
      </p:sp>
    </p:spTree>
    <p:extLst>
      <p:ext uri="{BB962C8B-B14F-4D97-AF65-F5344CB8AC3E}">
        <p14:creationId xmlns:p14="http://schemas.microsoft.com/office/powerpoint/2010/main" val="274327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D959-C6B4-1C1D-20CD-E3CCCA04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One </a:t>
            </a:r>
            <a:r>
              <a:rPr lang="hr-HR" dirty="0" err="1"/>
              <a:t>additional</a:t>
            </a:r>
            <a:r>
              <a:rPr lang="hr-HR" dirty="0"/>
              <a:t> </a:t>
            </a:r>
            <a:r>
              <a:rPr lang="hr-HR" dirty="0" err="1"/>
              <a:t>reflection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AB13B-45BA-255C-B5CF-46881B65C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is</a:t>
            </a:r>
            <a:r>
              <a:rPr lang="hr-HR" b="1" dirty="0"/>
              <a:t> </a:t>
            </a:r>
            <a:r>
              <a:rPr lang="hr-HR" b="1" dirty="0" err="1"/>
              <a:t>missing</a:t>
            </a:r>
            <a:r>
              <a:rPr lang="hr-HR" b="1" dirty="0"/>
              <a:t>?</a:t>
            </a:r>
          </a:p>
          <a:p>
            <a:r>
              <a:rPr lang="hr-HR" dirty="0" err="1"/>
              <a:t>Does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 </a:t>
            </a:r>
            <a:r>
              <a:rPr lang="hr-HR" dirty="0" err="1"/>
              <a:t>sufficiently</a:t>
            </a:r>
            <a:r>
              <a:rPr lang="hr-HR" dirty="0"/>
              <a:t> </a:t>
            </a:r>
            <a:r>
              <a:rPr lang="hr-HR" dirty="0" err="1"/>
              <a:t>capture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b="1" dirty="0"/>
              <a:t>human </a:t>
            </a:r>
            <a:r>
              <a:rPr lang="hr-HR" b="1" dirty="0" err="1"/>
              <a:t>perspective</a:t>
            </a:r>
            <a:r>
              <a:rPr lang="hr-HR" dirty="0"/>
              <a:t>?</a:t>
            </a:r>
          </a:p>
          <a:p>
            <a:r>
              <a:rPr lang="hr-HR" dirty="0"/>
              <a:t>Are </a:t>
            </a:r>
            <a:r>
              <a:rPr lang="hr-HR" dirty="0" err="1"/>
              <a:t>any</a:t>
            </a:r>
            <a:r>
              <a:rPr lang="hr-HR" dirty="0"/>
              <a:t> </a:t>
            </a:r>
            <a:r>
              <a:rPr lang="hr-HR" dirty="0" err="1"/>
              <a:t>questions</a:t>
            </a:r>
            <a:r>
              <a:rPr lang="hr-HR" dirty="0"/>
              <a:t> </a:t>
            </a:r>
            <a:r>
              <a:rPr lang="hr-HR" b="1" dirty="0" err="1"/>
              <a:t>too</a:t>
            </a:r>
            <a:r>
              <a:rPr lang="hr-HR" b="1" dirty="0"/>
              <a:t> </a:t>
            </a:r>
            <a:r>
              <a:rPr lang="hr-HR" b="1" dirty="0" err="1"/>
              <a:t>broad</a:t>
            </a:r>
            <a:r>
              <a:rPr lang="hr-HR" b="1" dirty="0"/>
              <a:t> to </a:t>
            </a:r>
            <a:r>
              <a:rPr lang="hr-HR" b="1" dirty="0" err="1"/>
              <a:t>produce</a:t>
            </a:r>
            <a:r>
              <a:rPr lang="hr-HR" b="1" dirty="0"/>
              <a:t> </a:t>
            </a:r>
            <a:r>
              <a:rPr lang="hr-HR" b="1" dirty="0" err="1"/>
              <a:t>comparable</a:t>
            </a:r>
            <a:r>
              <a:rPr lang="hr-HR" b="1" dirty="0"/>
              <a:t> </a:t>
            </a:r>
            <a:r>
              <a:rPr lang="hr-HR" b="1" dirty="0" err="1"/>
              <a:t>answers</a:t>
            </a:r>
            <a:r>
              <a:rPr lang="hr-HR" dirty="0"/>
              <a:t>?</a:t>
            </a:r>
          </a:p>
          <a:p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there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</a:t>
            </a:r>
            <a:r>
              <a:rPr lang="hr-HR" dirty="0" err="1"/>
              <a:t>dimension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b="1" dirty="0" err="1"/>
              <a:t>not</a:t>
            </a:r>
            <a:r>
              <a:rPr lang="hr-HR" b="1" dirty="0"/>
              <a:t> </a:t>
            </a:r>
            <a:r>
              <a:rPr lang="hr-HR" b="1" dirty="0" err="1"/>
              <a:t>represented</a:t>
            </a:r>
            <a:r>
              <a:rPr lang="hr-HR" b="1" dirty="0"/>
              <a:t> at </a:t>
            </a:r>
            <a:r>
              <a:rPr lang="hr-HR" b="1" dirty="0" err="1"/>
              <a:t>all</a:t>
            </a:r>
            <a:r>
              <a:rPr lang="hr-HR" dirty="0"/>
              <a:t>?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37612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AD157-A965-7F4C-6121-4A22B8A5C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E4C34E-67DE-92B6-C130-C630CF37F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IV. MODERATED CROSS-DOMAIN DISCUSSION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E46004-4409-008C-DB94-6B838E404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15:25 (20 min)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17567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95E5-1933-D5FE-AD67-B36626DA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Three</a:t>
            </a:r>
            <a:r>
              <a:rPr lang="hr-HR" dirty="0"/>
              <a:t> </a:t>
            </a:r>
            <a:r>
              <a:rPr lang="hr-HR" dirty="0" err="1"/>
              <a:t>Cases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73C8-A790-EDE5-FB76-AE4E8AD4B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patterns</a:t>
            </a:r>
            <a:r>
              <a:rPr lang="hr-HR" b="1" dirty="0"/>
              <a:t> </a:t>
            </a:r>
            <a:r>
              <a:rPr lang="hr-HR" b="1" dirty="0" err="1"/>
              <a:t>recur</a:t>
            </a:r>
            <a:r>
              <a:rPr lang="hr-HR" b="1" dirty="0"/>
              <a:t>?</a:t>
            </a:r>
          </a:p>
          <a:p>
            <a:r>
              <a:rPr lang="hr-HR" b="1" dirty="0"/>
              <a:t>COMMON</a:t>
            </a:r>
            <a:endParaRPr lang="hr-HR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appeared</a:t>
            </a:r>
            <a:r>
              <a:rPr lang="hr-HR" dirty="0"/>
              <a:t> </a:t>
            </a:r>
            <a:r>
              <a:rPr lang="hr-HR" dirty="0" err="1"/>
              <a:t>across</a:t>
            </a:r>
            <a:r>
              <a:rPr lang="hr-HR" dirty="0"/>
              <a:t> </a:t>
            </a:r>
            <a:r>
              <a:rPr lang="hr-HR" dirty="0" err="1"/>
              <a:t>cases</a:t>
            </a:r>
            <a:r>
              <a:rPr lang="hr-HR" dirty="0"/>
              <a:t>?</a:t>
            </a:r>
          </a:p>
          <a:p>
            <a:r>
              <a:rPr lang="hr-HR" b="1" dirty="0"/>
              <a:t>CONTEXT-SPECIFIC</a:t>
            </a:r>
            <a:endParaRPr lang="hr-HR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depended</a:t>
            </a:r>
            <a:r>
              <a:rPr lang="hr-HR" dirty="0"/>
              <a:t> on </a:t>
            </a:r>
            <a:r>
              <a:rPr lang="hr-HR" dirty="0" err="1"/>
              <a:t>domain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environment</a:t>
            </a:r>
            <a:r>
              <a:rPr lang="hr-HR" dirty="0"/>
              <a:t>?</a:t>
            </a:r>
          </a:p>
          <a:p>
            <a:r>
              <a:rPr lang="hr-HR" b="1" dirty="0"/>
              <a:t>MISSING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was</a:t>
            </a:r>
            <a:r>
              <a:rPr lang="hr-HR" dirty="0"/>
              <a:t> </a:t>
            </a:r>
            <a:r>
              <a:rPr lang="hr-HR" dirty="0" err="1"/>
              <a:t>important</a:t>
            </a:r>
            <a:r>
              <a:rPr lang="hr-HR" dirty="0"/>
              <a:t> but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captured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framework</a:t>
            </a:r>
            <a:r>
              <a:rPr lang="hr-HR" dirty="0"/>
              <a:t>?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35313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7BBB3-649D-1A62-D2A3-BF646343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Human-</a:t>
            </a:r>
            <a:r>
              <a:rPr lang="hr-HR" dirty="0" err="1"/>
              <a:t>Centered</a:t>
            </a:r>
            <a:r>
              <a:rPr lang="hr-HR" dirty="0"/>
              <a:t> </a:t>
            </a:r>
            <a:r>
              <a:rPr lang="hr-HR" dirty="0" err="1"/>
              <a:t>Lens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357A-E89B-DB71-DFA6-41133995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r-HR" b="1" dirty="0" err="1"/>
              <a:t>What</a:t>
            </a:r>
            <a:r>
              <a:rPr lang="hr-HR" b="1" dirty="0"/>
              <a:t> </a:t>
            </a:r>
            <a:r>
              <a:rPr lang="hr-HR" b="1" dirty="0" err="1"/>
              <a:t>changes</a:t>
            </a:r>
            <a:r>
              <a:rPr lang="hr-HR" b="1" dirty="0"/>
              <a:t> </a:t>
            </a:r>
            <a:r>
              <a:rPr lang="hr-HR" b="1" dirty="0" err="1"/>
              <a:t>when</a:t>
            </a:r>
            <a:r>
              <a:rPr lang="hr-HR" b="1" dirty="0"/>
              <a:t> </a:t>
            </a:r>
            <a:r>
              <a:rPr lang="hr-HR" b="1" dirty="0" err="1"/>
              <a:t>we</a:t>
            </a:r>
            <a:r>
              <a:rPr lang="hr-HR" b="1" dirty="0"/>
              <a:t> </a:t>
            </a:r>
            <a:r>
              <a:rPr lang="hr-HR" b="1" dirty="0" err="1"/>
              <a:t>look</a:t>
            </a:r>
            <a:r>
              <a:rPr lang="hr-HR" b="1" dirty="0"/>
              <a:t> </a:t>
            </a:r>
            <a:r>
              <a:rPr lang="hr-HR" b="1" dirty="0" err="1"/>
              <a:t>from</a:t>
            </a:r>
            <a:r>
              <a:rPr lang="hr-HR" b="1" dirty="0"/>
              <a:t> </a:t>
            </a:r>
            <a:r>
              <a:rPr lang="hr-HR" b="1" dirty="0" err="1"/>
              <a:t>the</a:t>
            </a:r>
            <a:r>
              <a:rPr lang="hr-HR" b="1" dirty="0"/>
              <a:t> human </a:t>
            </a:r>
            <a:r>
              <a:rPr lang="hr-HR" b="1" dirty="0" err="1"/>
              <a:t>perspective</a:t>
            </a:r>
            <a:r>
              <a:rPr lang="hr-HR" b="1" dirty="0"/>
              <a:t>?</a:t>
            </a:r>
          </a:p>
          <a:p>
            <a:pPr lvl="0"/>
            <a:r>
              <a:rPr lang="hr-HR" dirty="0"/>
              <a:t>Who </a:t>
            </a:r>
            <a:r>
              <a:rPr lang="hr-HR" dirty="0" err="1"/>
              <a:t>uses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affected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system? </a:t>
            </a:r>
          </a:p>
          <a:p>
            <a:pPr lvl="0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control</a:t>
            </a:r>
            <a:r>
              <a:rPr lang="hr-HR" dirty="0"/>
              <a:t> </a:t>
            </a:r>
            <a:r>
              <a:rPr lang="hr-HR" dirty="0" err="1"/>
              <a:t>remains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humans</a:t>
            </a:r>
            <a:r>
              <a:rPr lang="hr-HR" dirty="0"/>
              <a:t>? </a:t>
            </a:r>
          </a:p>
          <a:p>
            <a:pPr lvl="0"/>
            <a:r>
              <a:rPr lang="hr-HR" dirty="0" err="1"/>
              <a:t>Where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human </a:t>
            </a:r>
            <a:r>
              <a:rPr lang="hr-HR" dirty="0" err="1"/>
              <a:t>judgment</a:t>
            </a:r>
            <a:r>
              <a:rPr lang="hr-HR" dirty="0"/>
              <a:t> </a:t>
            </a:r>
            <a:r>
              <a:rPr lang="hr-HR" dirty="0" err="1"/>
              <a:t>essential</a:t>
            </a:r>
            <a:r>
              <a:rPr lang="hr-HR" dirty="0"/>
              <a:t>? </a:t>
            </a:r>
          </a:p>
          <a:p>
            <a:pPr lvl="0"/>
            <a:r>
              <a:rPr lang="hr-HR" dirty="0"/>
              <a:t>How are </a:t>
            </a:r>
            <a:r>
              <a:rPr lang="hr-HR" dirty="0" err="1"/>
              <a:t>roles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practices</a:t>
            </a:r>
            <a:r>
              <a:rPr lang="hr-HR" dirty="0"/>
              <a:t> </a:t>
            </a:r>
            <a:r>
              <a:rPr lang="hr-HR" dirty="0" err="1"/>
              <a:t>changed</a:t>
            </a:r>
            <a:r>
              <a:rPr lang="hr-HR" dirty="0"/>
              <a:t>? </a:t>
            </a:r>
          </a:p>
          <a:p>
            <a:pPr lvl="0"/>
            <a:r>
              <a:rPr lang="hr-HR" dirty="0"/>
              <a:t>Who </a:t>
            </a:r>
            <a:r>
              <a:rPr lang="hr-HR" dirty="0" err="1"/>
              <a:t>gains</a:t>
            </a:r>
            <a:r>
              <a:rPr lang="hr-HR" dirty="0"/>
              <a:t> </a:t>
            </a:r>
            <a:r>
              <a:rPr lang="hr-HR" dirty="0" err="1"/>
              <a:t>value</a:t>
            </a:r>
            <a:r>
              <a:rPr lang="hr-HR" dirty="0"/>
              <a:t>? </a:t>
            </a:r>
          </a:p>
          <a:p>
            <a:pPr lvl="0"/>
            <a:r>
              <a:rPr lang="hr-HR" dirty="0"/>
              <a:t>Who </a:t>
            </a:r>
            <a:r>
              <a:rPr lang="hr-HR" dirty="0" err="1"/>
              <a:t>carries</a:t>
            </a:r>
            <a:r>
              <a:rPr lang="hr-HR" dirty="0"/>
              <a:t> </a:t>
            </a:r>
            <a:r>
              <a:rPr lang="hr-HR" dirty="0" err="1"/>
              <a:t>additional</a:t>
            </a:r>
            <a:r>
              <a:rPr lang="hr-HR" dirty="0"/>
              <a:t> </a:t>
            </a:r>
            <a:r>
              <a:rPr lang="hr-HR" dirty="0" err="1"/>
              <a:t>burden</a:t>
            </a:r>
            <a:r>
              <a:rPr lang="hr-HR" dirty="0"/>
              <a:t> </a:t>
            </a:r>
            <a:r>
              <a:rPr lang="hr-HR" dirty="0" err="1"/>
              <a:t>or</a:t>
            </a:r>
            <a:r>
              <a:rPr lang="hr-HR" dirty="0"/>
              <a:t> </a:t>
            </a:r>
            <a:r>
              <a:rPr lang="hr-HR" dirty="0" err="1"/>
              <a:t>risk</a:t>
            </a:r>
            <a:r>
              <a:rPr lang="hr-HR" dirty="0"/>
              <a:t>?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hr-HR" b="1" dirty="0"/>
              <a:t>Human </a:t>
            </a:r>
            <a:r>
              <a:rPr lang="hr-HR" b="1" dirty="0" err="1"/>
              <a:t>Interaction</a:t>
            </a:r>
            <a:r>
              <a:rPr lang="hr-HR" b="1" dirty="0"/>
              <a:t> as one </a:t>
            </a:r>
            <a:r>
              <a:rPr lang="hr-HR" b="1" dirty="0" err="1"/>
              <a:t>dimension</a:t>
            </a:r>
            <a:r>
              <a:rPr lang="hr-HR" b="1" dirty="0"/>
              <a:t> — </a:t>
            </a:r>
            <a:r>
              <a:rPr lang="hr-HR" b="1" dirty="0" err="1"/>
              <a:t>or</a:t>
            </a:r>
            <a:r>
              <a:rPr lang="hr-HR" b="1" dirty="0"/>
              <a:t> human-</a:t>
            </a:r>
            <a:r>
              <a:rPr lang="hr-HR" b="1" dirty="0" err="1"/>
              <a:t>centeredness</a:t>
            </a:r>
            <a:r>
              <a:rPr lang="hr-HR" b="1" dirty="0"/>
              <a:t> </a:t>
            </a:r>
            <a:r>
              <a:rPr lang="hr-HR" b="1" dirty="0" err="1"/>
              <a:t>across</a:t>
            </a:r>
            <a:r>
              <a:rPr lang="hr-HR" b="1" dirty="0"/>
              <a:t> </a:t>
            </a:r>
            <a:r>
              <a:rPr lang="hr-HR" b="1" dirty="0" err="1"/>
              <a:t>all</a:t>
            </a:r>
            <a:r>
              <a:rPr lang="hr-HR" b="1" dirty="0"/>
              <a:t> </a:t>
            </a:r>
            <a:r>
              <a:rPr lang="hr-HR" b="1" dirty="0" err="1"/>
              <a:t>dimensions</a:t>
            </a:r>
            <a:r>
              <a:rPr lang="hr-HR" b="1" dirty="0"/>
              <a:t>?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47995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D190-5E0A-77C4-D2FC-56DE68E6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Performance</a:t>
            </a:r>
            <a:r>
              <a:rPr lang="hr-HR" dirty="0"/>
              <a:t> to </a:t>
            </a:r>
            <a:r>
              <a:rPr lang="hr-HR" dirty="0" err="1"/>
              <a:t>Adoption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8028B-D71E-0EF8-85D9-5002D028D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 err="1"/>
              <a:t>Technical</a:t>
            </a:r>
            <a:r>
              <a:rPr lang="hr-HR" b="1" dirty="0"/>
              <a:t> </a:t>
            </a:r>
            <a:r>
              <a:rPr lang="hr-HR" b="1" dirty="0" err="1"/>
              <a:t>capability</a:t>
            </a:r>
            <a:endParaRPr lang="hr-HR" dirty="0"/>
          </a:p>
          <a:p>
            <a:r>
              <a:rPr lang="hr-HR" b="1" dirty="0" err="1"/>
              <a:t>usefulness</a:t>
            </a:r>
            <a:endParaRPr lang="hr-HR" dirty="0"/>
          </a:p>
          <a:p>
            <a:r>
              <a:rPr lang="hr-HR" b="1" dirty="0"/>
              <a:t>human </a:t>
            </a:r>
            <a:r>
              <a:rPr lang="hr-HR" b="1" dirty="0" err="1"/>
              <a:t>acceptance</a:t>
            </a:r>
            <a:endParaRPr lang="en-US" dirty="0"/>
          </a:p>
          <a:p>
            <a:r>
              <a:rPr lang="hr-HR" b="1" dirty="0" err="1"/>
              <a:t>workflow</a:t>
            </a:r>
            <a:r>
              <a:rPr lang="hr-HR" b="1" dirty="0"/>
              <a:t> </a:t>
            </a:r>
            <a:r>
              <a:rPr lang="hr-HR" b="1" dirty="0" err="1"/>
              <a:t>integration</a:t>
            </a:r>
            <a:endParaRPr lang="en-US" dirty="0"/>
          </a:p>
          <a:p>
            <a:r>
              <a:rPr lang="hr-HR" b="1" dirty="0" err="1"/>
              <a:t>organizational</a:t>
            </a:r>
            <a:r>
              <a:rPr lang="hr-HR" b="1" dirty="0"/>
              <a:t> </a:t>
            </a:r>
            <a:r>
              <a:rPr lang="hr-HR" b="1" dirty="0" err="1"/>
              <a:t>adoption</a:t>
            </a:r>
            <a:endParaRPr lang="hr-HR" dirty="0"/>
          </a:p>
          <a:p>
            <a:r>
              <a:rPr lang="hr-HR" b="1" dirty="0" err="1"/>
              <a:t>sustained</a:t>
            </a:r>
            <a:r>
              <a:rPr lang="hr-HR" b="1" dirty="0"/>
              <a:t> use</a:t>
            </a:r>
            <a:endParaRPr lang="hr-HR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hr-HR" b="1" dirty="0" err="1"/>
              <a:t>Where</a:t>
            </a:r>
            <a:r>
              <a:rPr lang="hr-HR" b="1" dirty="0"/>
              <a:t> </a:t>
            </a:r>
            <a:r>
              <a:rPr lang="hr-HR" b="1" dirty="0" err="1"/>
              <a:t>does</a:t>
            </a:r>
            <a:r>
              <a:rPr lang="hr-HR" b="1" dirty="0"/>
              <a:t> </a:t>
            </a:r>
            <a:r>
              <a:rPr lang="hr-HR" b="1" dirty="0" err="1"/>
              <a:t>each</a:t>
            </a:r>
            <a:r>
              <a:rPr lang="hr-HR" b="1" dirty="0"/>
              <a:t> </a:t>
            </a:r>
            <a:r>
              <a:rPr lang="hr-HR" b="1" dirty="0" err="1"/>
              <a:t>of</a:t>
            </a:r>
            <a:r>
              <a:rPr lang="hr-HR" b="1" dirty="0"/>
              <a:t> </a:t>
            </a:r>
            <a:r>
              <a:rPr lang="hr-HR" b="1" dirty="0" err="1"/>
              <a:t>today's</a:t>
            </a:r>
            <a:r>
              <a:rPr lang="hr-HR" b="1" dirty="0"/>
              <a:t> </a:t>
            </a:r>
            <a:r>
              <a:rPr lang="hr-HR" b="1" dirty="0" err="1"/>
              <a:t>three</a:t>
            </a:r>
            <a:r>
              <a:rPr lang="hr-HR" b="1" dirty="0"/>
              <a:t> </a:t>
            </a:r>
            <a:r>
              <a:rPr lang="hr-HR" b="1" dirty="0" err="1"/>
              <a:t>cases</a:t>
            </a:r>
            <a:r>
              <a:rPr lang="hr-HR" b="1" dirty="0"/>
              <a:t> </a:t>
            </a:r>
            <a:r>
              <a:rPr lang="hr-HR" b="1" dirty="0" err="1"/>
              <a:t>currently</a:t>
            </a:r>
            <a:r>
              <a:rPr lang="hr-HR" b="1" dirty="0"/>
              <a:t> sit?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90754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FBD-10A8-F56A-3359-DE705E92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28F378-F722-150E-445C-E724D3348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3" y="1214438"/>
            <a:ext cx="10524565" cy="2387600"/>
          </a:xfrm>
        </p:spPr>
        <p:txBody>
          <a:bodyPr/>
          <a:lstStyle/>
          <a:p>
            <a:r>
              <a:rPr lang="hr-HR" dirty="0"/>
              <a:t>V. FRAMEWORK REFINEMENT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93D611C-3E5F-CB24-858C-503C4A5E32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15:45</a:t>
            </a:r>
            <a:r>
              <a:rPr lang="en-US" dirty="0"/>
              <a:t> (10 min)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77687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CE757-D8B6-628B-9CAA-400387E5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Keep</a:t>
            </a:r>
            <a:r>
              <a:rPr lang="hr-HR" dirty="0"/>
              <a:t>, </a:t>
            </a:r>
            <a:r>
              <a:rPr lang="hr-HR" dirty="0" err="1"/>
              <a:t>Refine</a:t>
            </a:r>
            <a:r>
              <a:rPr lang="hr-HR" dirty="0"/>
              <a:t>, </a:t>
            </a:r>
            <a:r>
              <a:rPr lang="hr-HR" dirty="0" err="1"/>
              <a:t>Add</a:t>
            </a:r>
            <a:r>
              <a:rPr lang="hr-HR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3FDA3-E843-7A8F-668E-38517E0D9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03494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r-HR" b="1" dirty="0"/>
              <a:t>KEEP</a:t>
            </a:r>
          </a:p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works</a:t>
            </a:r>
            <a:r>
              <a:rPr lang="hr-HR" dirty="0"/>
              <a:t> </a:t>
            </a:r>
            <a:r>
              <a:rPr lang="hr-HR" dirty="0" err="1"/>
              <a:t>well</a:t>
            </a:r>
            <a:r>
              <a:rPr lang="hr-HR" dirty="0"/>
              <a:t>?</a:t>
            </a:r>
          </a:p>
          <a:p>
            <a:endParaRPr lang="hr-HR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EA3CF93-0223-AFE6-312F-9E9639BCFE7E}"/>
              </a:ext>
            </a:extLst>
          </p:cNvPr>
          <p:cNvSpPr txBox="1">
            <a:spLocks/>
          </p:cNvSpPr>
          <p:nvPr/>
        </p:nvSpPr>
        <p:spPr>
          <a:xfrm>
            <a:off x="4029634" y="1825625"/>
            <a:ext cx="376965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r-HR" b="1" dirty="0"/>
              <a:t>REFINE</a:t>
            </a:r>
          </a:p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needs</a:t>
            </a:r>
            <a:r>
              <a:rPr lang="hr-HR" dirty="0"/>
              <a:t> </a:t>
            </a:r>
            <a:r>
              <a:rPr lang="hr-HR" dirty="0" err="1"/>
              <a:t>clearer</a:t>
            </a:r>
            <a:r>
              <a:rPr lang="hr-HR" dirty="0"/>
              <a:t> </a:t>
            </a:r>
            <a:r>
              <a:rPr lang="hr-HR" dirty="0" err="1"/>
              <a:t>operationalization</a:t>
            </a:r>
            <a:r>
              <a:rPr lang="hr-HR" dirty="0"/>
              <a:t>?</a:t>
            </a:r>
          </a:p>
          <a:p>
            <a:pPr marL="0" indent="0">
              <a:buNone/>
            </a:pPr>
            <a:endParaRPr lang="hr-HR" dirty="0"/>
          </a:p>
          <a:p>
            <a:endParaRPr lang="hr-HR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F6CE04D-8FA1-F528-7A3E-9EE48A54CD61}"/>
              </a:ext>
            </a:extLst>
          </p:cNvPr>
          <p:cNvSpPr txBox="1">
            <a:spLocks/>
          </p:cNvSpPr>
          <p:nvPr/>
        </p:nvSpPr>
        <p:spPr>
          <a:xfrm>
            <a:off x="7705164" y="1825625"/>
            <a:ext cx="33034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r-HR" b="1" dirty="0"/>
              <a:t>ADD</a:t>
            </a:r>
          </a:p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missing</a:t>
            </a:r>
            <a:r>
              <a:rPr lang="hr-HR" dirty="0"/>
              <a:t>?</a:t>
            </a:r>
          </a:p>
          <a:p>
            <a:pPr marL="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79955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C9798-7785-E896-01F9-DCFD6566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F89C27-7FF9-DA19-7D34-3968E397D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3" y="1214438"/>
            <a:ext cx="10524565" cy="2387600"/>
          </a:xfrm>
        </p:spPr>
        <p:txBody>
          <a:bodyPr/>
          <a:lstStyle/>
          <a:p>
            <a:r>
              <a:rPr lang="hr-HR" dirty="0"/>
              <a:t>VI. FUTURE RESEARCH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7CA128-E501-05E8-9A76-7FA45F6269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15:55–16:00</a:t>
            </a:r>
          </a:p>
        </p:txBody>
      </p:sp>
    </p:spTree>
    <p:extLst>
      <p:ext uri="{BB962C8B-B14F-4D97-AF65-F5344CB8AC3E}">
        <p14:creationId xmlns:p14="http://schemas.microsoft.com/office/powerpoint/2010/main" val="1509822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3817-7569-325D-C401-37BF5A5F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Comes</a:t>
            </a:r>
            <a:r>
              <a:rPr lang="hr-HR" dirty="0"/>
              <a:t> </a:t>
            </a:r>
            <a:r>
              <a:rPr lang="hr-HR" dirty="0" err="1"/>
              <a:t>Next</a:t>
            </a:r>
            <a:r>
              <a:rPr lang="hr-H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EF86-B741-99EB-BC7C-648D8FDF7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259"/>
            <a:ext cx="10515600" cy="53384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r-HR" b="1" dirty="0" err="1"/>
              <a:t>From</a:t>
            </a:r>
            <a:r>
              <a:rPr lang="hr-HR" b="1" dirty="0"/>
              <a:t> </a:t>
            </a:r>
            <a:r>
              <a:rPr lang="hr-HR" b="1" dirty="0" err="1"/>
              <a:t>workshops</a:t>
            </a:r>
            <a:r>
              <a:rPr lang="hr-HR" b="1" dirty="0"/>
              <a:t> to </a:t>
            </a:r>
            <a:r>
              <a:rPr lang="hr-HR" b="1" dirty="0" err="1"/>
              <a:t>cumulative</a:t>
            </a:r>
            <a:r>
              <a:rPr lang="hr-HR" b="1" dirty="0"/>
              <a:t> </a:t>
            </a:r>
            <a:r>
              <a:rPr lang="hr-HR" b="1" dirty="0" err="1"/>
              <a:t>evidence</a:t>
            </a:r>
            <a:endParaRPr lang="hr-HR" b="1" dirty="0"/>
          </a:p>
          <a:p>
            <a:r>
              <a:rPr lang="hr-HR" b="1" dirty="0"/>
              <a:t>MIPRO</a:t>
            </a:r>
            <a:br>
              <a:rPr lang="hr-HR" dirty="0"/>
            </a:br>
            <a:r>
              <a:rPr lang="hr-HR" dirty="0"/>
              <a:t>Pilot </a:t>
            </a:r>
            <a:r>
              <a:rPr lang="hr-HR" dirty="0" err="1"/>
              <a:t>dataset</a:t>
            </a:r>
            <a:endParaRPr lang="hr-HR" dirty="0"/>
          </a:p>
          <a:p>
            <a:r>
              <a:rPr lang="hr-HR" b="1" dirty="0"/>
              <a:t>SOFTCOM</a:t>
            </a:r>
            <a:br>
              <a:rPr lang="hr-HR" dirty="0"/>
            </a:br>
            <a:r>
              <a:rPr lang="hr-HR" dirty="0"/>
              <a:t>Cross-</a:t>
            </a:r>
            <a:r>
              <a:rPr lang="hr-HR" dirty="0" err="1"/>
              <a:t>domain</a:t>
            </a:r>
            <a:r>
              <a:rPr lang="hr-HR" dirty="0"/>
              <a:t> </a:t>
            </a:r>
            <a:r>
              <a:rPr lang="hr-HR" dirty="0" err="1"/>
              <a:t>expansion</a:t>
            </a:r>
            <a:r>
              <a:rPr lang="hr-HR" dirty="0"/>
              <a:t> &amp; </a:t>
            </a:r>
            <a:r>
              <a:rPr lang="hr-HR" dirty="0" err="1"/>
              <a:t>refinement</a:t>
            </a:r>
            <a:endParaRPr lang="hr-HR" dirty="0"/>
          </a:p>
          <a:p>
            <a:r>
              <a:rPr lang="hr-HR" b="1" dirty="0" err="1"/>
              <a:t>Extended</a:t>
            </a:r>
            <a:r>
              <a:rPr lang="hr-HR" b="1" dirty="0"/>
              <a:t> </a:t>
            </a:r>
            <a:r>
              <a:rPr lang="hr-HR" b="1" dirty="0" err="1"/>
              <a:t>Case</a:t>
            </a:r>
            <a:r>
              <a:rPr lang="hr-HR" b="1" dirty="0"/>
              <a:t> </a:t>
            </a:r>
            <a:r>
              <a:rPr lang="hr-HR" b="1" dirty="0" err="1"/>
              <a:t>Studies</a:t>
            </a:r>
            <a:br>
              <a:rPr lang="hr-HR" dirty="0"/>
            </a:br>
            <a:r>
              <a:rPr lang="hr-HR" dirty="0" err="1"/>
              <a:t>Structured</a:t>
            </a:r>
            <a:r>
              <a:rPr lang="hr-HR" dirty="0"/>
              <a:t> </a:t>
            </a:r>
            <a:r>
              <a:rPr lang="hr-HR" dirty="0" err="1"/>
              <a:t>reporting</a:t>
            </a:r>
            <a:r>
              <a:rPr lang="hr-HR" dirty="0"/>
              <a:t> </a:t>
            </a:r>
            <a:r>
              <a:rPr lang="hr-HR" dirty="0" err="1"/>
              <a:t>using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analytical</a:t>
            </a:r>
            <a:r>
              <a:rPr lang="hr-HR" dirty="0"/>
              <a:t> </a:t>
            </a:r>
            <a:r>
              <a:rPr lang="hr-HR" dirty="0" err="1"/>
              <a:t>framework</a:t>
            </a:r>
            <a:endParaRPr lang="hr-HR" dirty="0"/>
          </a:p>
          <a:p>
            <a:r>
              <a:rPr lang="hr-HR" b="1" dirty="0"/>
              <a:t>JCOMSS </a:t>
            </a:r>
            <a:r>
              <a:rPr lang="hr-HR" b="1" dirty="0" err="1"/>
              <a:t>Special</a:t>
            </a:r>
            <a:r>
              <a:rPr lang="hr-HR" b="1" dirty="0"/>
              <a:t> </a:t>
            </a:r>
            <a:r>
              <a:rPr lang="hr-HR" b="1" dirty="0" err="1"/>
              <a:t>Issue</a:t>
            </a:r>
            <a:br>
              <a:rPr lang="hr-HR" dirty="0"/>
            </a:br>
            <a:r>
              <a:rPr lang="hr-HR" dirty="0" err="1"/>
              <a:t>Comparative</a:t>
            </a:r>
            <a:r>
              <a:rPr lang="hr-HR" dirty="0"/>
              <a:t> </a:t>
            </a:r>
            <a:r>
              <a:rPr lang="hr-HR" dirty="0" err="1"/>
              <a:t>empirical</a:t>
            </a:r>
            <a:r>
              <a:rPr lang="hr-HR" dirty="0"/>
              <a:t> </a:t>
            </a:r>
            <a:r>
              <a:rPr lang="hr-HR" dirty="0" err="1"/>
              <a:t>evidence</a:t>
            </a:r>
            <a:endParaRPr lang="hr-HR" dirty="0"/>
          </a:p>
          <a:p>
            <a:r>
              <a:rPr lang="hr-HR" b="1" dirty="0"/>
              <a:t>Cross-</a:t>
            </a:r>
            <a:r>
              <a:rPr lang="hr-HR" b="1" dirty="0" err="1"/>
              <a:t>Domain</a:t>
            </a:r>
            <a:r>
              <a:rPr lang="hr-HR" b="1" dirty="0"/>
              <a:t> </a:t>
            </a:r>
            <a:r>
              <a:rPr lang="hr-HR" b="1" dirty="0" err="1"/>
              <a:t>Synthesis</a:t>
            </a:r>
            <a:br>
              <a:rPr lang="hr-HR" dirty="0"/>
            </a:br>
            <a:r>
              <a:rPr lang="hr-HR" dirty="0" err="1"/>
              <a:t>Evidence-based</a:t>
            </a:r>
            <a:r>
              <a:rPr lang="hr-HR" dirty="0"/>
              <a:t> human-</a:t>
            </a:r>
            <a:r>
              <a:rPr lang="hr-HR" dirty="0" err="1"/>
              <a:t>centered</a:t>
            </a:r>
            <a:r>
              <a:rPr lang="hr-HR" dirty="0"/>
              <a:t> LLM </a:t>
            </a:r>
            <a:r>
              <a:rPr lang="hr-HR" dirty="0" err="1"/>
              <a:t>adoption</a:t>
            </a:r>
            <a:r>
              <a:rPr lang="hr-HR" dirty="0"/>
              <a:t> </a:t>
            </a:r>
            <a:r>
              <a:rPr lang="hr-HR" dirty="0" err="1"/>
              <a:t>framework</a:t>
            </a:r>
            <a:endParaRPr lang="hr-HR" dirty="0"/>
          </a:p>
          <a:p>
            <a:r>
              <a:rPr lang="hr-HR" b="1" dirty="0" err="1"/>
              <a:t>Interested</a:t>
            </a:r>
            <a:r>
              <a:rPr lang="hr-HR" b="1" dirty="0"/>
              <a:t> </a:t>
            </a:r>
            <a:r>
              <a:rPr lang="hr-HR" b="1" dirty="0" err="1"/>
              <a:t>in</a:t>
            </a:r>
            <a:r>
              <a:rPr lang="hr-HR" b="1" dirty="0"/>
              <a:t> </a:t>
            </a:r>
            <a:r>
              <a:rPr lang="hr-HR" b="1" dirty="0" err="1"/>
              <a:t>contributing</a:t>
            </a:r>
            <a:r>
              <a:rPr lang="hr-HR" b="1" dirty="0"/>
              <a:t>?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hr-HR" b="1" dirty="0"/>
              <a:t>tihana.galinac@unipu.hr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15453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2997</Words>
  <Application>Microsoft Office PowerPoint</Application>
  <PresentationFormat>Widescreen</PresentationFormat>
  <Paragraphs>320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Research Alignment Workshop II  Human-Centered Adoption of Large Language Models Towards Cross-Domain Evidence, Comparative Studies, and Systematic Adoption Frameworks  SOFTCOM 2026 | Split, Croatia | 18 September 2026</vt:lpstr>
      <vt:lpstr>From technical success to sustainable adoption </vt:lpstr>
      <vt:lpstr>From MIPRO to SOFTCOM</vt:lpstr>
      <vt:lpstr>What are we trying to build?</vt:lpstr>
      <vt:lpstr>Human-Centered Socio-Technical Perspective</vt:lpstr>
      <vt:lpstr>Proposed Analytical Framework</vt:lpstr>
      <vt:lpstr>A question emerging after MIPRO: Are we human-centered enough? </vt:lpstr>
      <vt:lpstr>What we ask from today's cases</vt:lpstr>
      <vt:lpstr>II. CASE STUDIES</vt:lpstr>
      <vt:lpstr>Cross-Domain Case Studies </vt:lpstr>
      <vt:lpstr>III. STRUCTURED REFLECTION</vt:lpstr>
      <vt:lpstr>Individual Reflection</vt:lpstr>
      <vt:lpstr>One additional reflection</vt:lpstr>
      <vt:lpstr>IV. MODERATED CROSS-DOMAIN DISCUSSION</vt:lpstr>
      <vt:lpstr>Across the Three Cases</vt:lpstr>
      <vt:lpstr>Human-Centered Lens</vt:lpstr>
      <vt:lpstr>From Performance to Adoption</vt:lpstr>
      <vt:lpstr>V. FRAMEWORK REFINEMENT </vt:lpstr>
      <vt:lpstr>Keep, Refine, Add?</vt:lpstr>
      <vt:lpstr>VI. FUTURE RESEARCH</vt:lpstr>
      <vt:lpstr>What Comes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Tihana Galinac Grbac</dc:creator>
  <cp:lastModifiedBy>Tihana Galinac Grbac</cp:lastModifiedBy>
  <cp:revision>35</cp:revision>
  <dcterms:created xsi:type="dcterms:W3CDTF">2026-05-26T03:45:17Z</dcterms:created>
  <dcterms:modified xsi:type="dcterms:W3CDTF">2026-09-18T11:04:11Z</dcterms:modified>
</cp:coreProperties>
</file>